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315200" cy="9144000"/>
  <p:notesSz cx="9144000" cy="7315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416700e5-4500-13be-446e-e09debe1262a}">
          <p14:sldIdLst>
            <p14:sldId id="256"/>
            <p14:sldId id="257"/>
          </p14:sldIdLst>
        </p14:section>
        <p14:section name="Propuesta" id="{73176758-6c8f-7519-e6c8-008345535949}">
          <p14:sldIdLst>
            <p14:sldId id="258"/>
            <p14:sldId id="259"/>
            <p14:sldId id="260"/>
            <p14:sldId id="261"/>
          </p14:sldIdLst>
        </p14:section>
        <p14:section name="Origen y cierre" id="{0fc3341d-b79e-cdd2-5602-600fbc2add39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bruto</c:v>
                </c:pt>
              </c:strCache>
            </c:strRef>
          </c:tx>
          <c:spPr>
            <a:solidFill>
              <a:srgbClr val="276EF1"/>
            </a:solidFill>
            <a:effectLst/>
          </c:spPr>
          <c:invertIfNegative val="0"/>
          <c:dLbls>
            <c:numFmt formatCode="0 %" sourceLinked="0"/>
            <c:txPr>
              <a:bodyPr/>
              <a:lstStyle/>
              <a:p>
                <a:pPr>
                  <a:defRPr b="1" i="0" strike="noStrike" sz="1600" u="none">
                    <a:solidFill>
                      <a:srgbClr val="10243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76EF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4B8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76EF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Línea A</c:v>
                  </c:pt>
                  <c:pt idx="1">
                    <c:v>Línea B</c:v>
                  </c:pt>
                  <c:pt idx="2">
                    <c:v>Línea C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0.15</c:v>
                </c:pt>
                <c:pt idx="2">
                  <c:v>0.3</c:v>
                </c:pt>
              </c:numCache>
            </c:numRef>
          </c:val>
        </c:ser>
        <c:dLbls>
          <c:numFmt formatCode="0 %" sourceLinked="0"/>
          <c:txPr>
            <a:bodyPr/>
            <a:lstStyle/>
            <a:p>
              <a:pPr>
                <a:defRPr b="1" i="0" strike="noStrike" sz="1600" u="none">
                  <a:solidFill>
                    <a:srgbClr val="10243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9D3E1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0243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l"/>
        <c:majorGridlines>
          <c:spPr>
            <a:ln w="9525" cap="flat">
              <a:solidFill>
                <a:srgbClr val="E3E8F0"/>
              </a:solidFill>
              <a:prstDash val="solid"/>
              <a:round/>
            </a:ln>
          </c:spPr>
        </c:majorGridlines>
        <c:numFmt formatCode="0 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B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Impulso Empresarial se presenta como una idea de negocio desarrollada en la tesis de Ingeniería Comercial de Derlis Javier Morinigo Ovelar; no como una empresa en operación. El diagrama resume la propuesta: datos de ventas, costos y caja integrados en información para tomar decisiones.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preguntas son situaciones habituales de gestión, no resultados de una encuesta ni estadísticas verificadas. Separan tres conceptos distintos: vender (ventas), ganar (rentabilidad: lo que queda después de costos y gastos) y cobrar (caja y liquidez). Un negocio puede vender más y aun así ganar menos, o ganar y no tener efectivo disponible.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Propuesta de consultoría unipersonal en Inteligencia de Negocios (Business Intelligence, BI) para micro, pequeñas y medianas empresas. «Ordenar, visualizar, decidir» es una síntesis comercial para este carrusel. Foco inicial: San Lorenzo y el área metropolitana de Paraguay. Es una idea de negocio de la tesis: no se afirma que esté operando ni que tenga clientes.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Alcance propuesto del servicio: diagnóstico de información y necesidades, tableros de control, automatización de reportes, definición y análisis de indicadores, capacitación y acompañamiento posterior. Herramientas: Excel y Power BI. Lenguaje de propuesta: no se publican precios, paquetes comerciales ni compromisos contractuales.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 ILUSTRATIVO · DATOS SIMULADOS. No pertenecen a clientes, a CIE S.A. ni a resultados de la consultora.
Datos de un mes, en millones de guaraníes (M = millones de guaraníes):
Línea A: ventas 60; costo de ventas 42; utilidad bruta 18; margen bruto 30 %.
Línea B: ventas 40; costo de ventas 34; utilidad bruta 6; margen bruto 15 %.
Línea C: ventas 20; costo de ventas 14; utilidad bruta 6; margen bruto 30 %.
Total: ventas 120; costo de ventas 90; utilidad bruta 30; margen bruto 25 %.
Fórmula: margen bruto = (ventas − costo de ventas) / ventas.
El 25 % total surge de 30 / 120, es decir, está ponderado por ventas. En este ejemplo el promedio simple de 30 %, 15 % y 30 % también da 25 %, pero solo por coincidencia: si cambia la mezcla de ventas, el promedio simple deja de coincidir y el cálculo correcto sigue siendo utilidad bruta total / ventas totales.
Margen bruto: antes de gastos operativos, intereses e impuestos. No es utilidad neta.
Cuentas por cobrar al cierre: Gs. 45 millones. Es un saldo adicional simulado; no son cobros del mes ni flujo de caja, ni una parte adicional de las ventas que deba sumarse a los Gs. 120 millones.
Lectura: la Línea B tiene la mitad del margen de A y C. El tablero no da la respuesta; indica dónde revisar (precios, costos o descuentos) antes de decidir.
El gráfico es nativo de PowerPoint: los datos se editan con clic derecho &gt; Editar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Proceso propuesto en cuatro pasos: entender las decisiones, ordenar y validar los datos, implementar tablero y reportes según el alcance acordado, y acompañar el uso de los indicadores. Modalidad: implementación por proyecto más seguimiento mensual. No se fijan plazos, cantidad de reuniones ni compromisos contractuales.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profesional del autor, sin convertir la página en un currículum. Impulso Empresarial se desarrolló como proyecto de tesis de Ingeniería Comercial; no se usa el título de Ingeniero Comercial ni se afirma que la tesis ya fue defendida. No se menciona al empleador actual ni logros comerciales de Impulso Empresarial.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Invitación a conversar para seguir afinando la propuesta y a visitar el perfil de LinkedIn. No se agregan teléfono, correo, QR, enlaces ni ofertas (por ejemplo, diagnósticos gratuitos).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E Portad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051560"/>
            <a:ext cx="6217920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4" name="Text 0"/>
          <p:cNvSpPr/>
          <p:nvPr/>
        </p:nvSpPr>
        <p:spPr>
          <a:xfrm>
            <a:off x="548640" y="8503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Impulso Empresarial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b="1" dirty="0">
                <a:solidFill>
                  <a:schemeClr val="accent6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E Contenido clar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3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3800" dirty="0"/>
          </a:p>
        </p:txBody>
      </p:sp>
      <p:sp>
        <p:nvSpPr>
          <p:cNvPr id="4" name="Text 0"/>
          <p:cNvSpPr/>
          <p:nvPr/>
        </p:nvSpPr>
        <p:spPr>
          <a:xfrm>
            <a:off x="548640" y="8503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Impulso Empresarial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E Contenido oscuro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3800" dirty="0"/>
          </a:p>
        </p:txBody>
      </p:sp>
      <p:sp>
        <p:nvSpPr>
          <p:cNvPr id="4" name="Text 0"/>
          <p:cNvSpPr/>
          <p:nvPr/>
        </p:nvSpPr>
        <p:spPr>
          <a:xfrm>
            <a:off x="548640" y="850392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Impulso Empresarial</a:t>
            </a: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b="1" dirty="0">
                <a:solidFill>
                  <a:schemeClr val="accent6"/>
                </a:solidFill>
              </a:defRPr>
            </a:lvl1pPr>
          </a:lstStyle>
          <a:p>
            <a:pPr algn="r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PROYECTO DE TESIS · PARAGUAY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051560"/>
            <a:ext cx="6217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bg1"/>
                </a:solidFill>
              </a:rPr>
              <a:t>Tu negocio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bg1"/>
                </a:solidFill>
              </a:rPr>
              <a:t>genera datos.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accent2"/>
                </a:solidFill>
              </a:rPr>
              <a:t>¿Los estás usando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accent2"/>
                </a:solidFill>
              </a:rPr>
              <a:t>para decidir?</a:t>
            </a:r>
            <a:endParaRPr lang="en-US" sz="4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01/08</a:t>
            </a:r>
            <a:endParaRPr lang="en-US" sz="1200" dirty="0"/>
          </a:p>
        </p:txBody>
      </p:sp>
      <p:sp>
        <p:nvSpPr>
          <p:cNvPr id="6" name="Subtítulo"/>
          <p:cNvSpPr txBox="1"/>
          <p:nvPr/>
        </p:nvSpPr>
        <p:spPr>
          <a:xfrm>
            <a:off x="548640" y="411480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Impulso Empresarial: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accent6"/>
                </a:solidFill>
              </a:rPr>
              <a:t>inteligencia de negocios para MIPYMES.</a:t>
            </a:r>
            <a:endParaRPr lang="en-US" sz="2200" dirty="0"/>
          </a:p>
        </p:txBody>
      </p:sp>
      <p:sp>
        <p:nvSpPr>
          <p:cNvPr id="7" name="Chip Ventas"/>
          <p:cNvSpPr/>
          <p:nvPr/>
        </p:nvSpPr>
        <p:spPr>
          <a:xfrm>
            <a:off x="548640" y="521208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0" descr="Ven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5394960"/>
            <a:ext cx="365760" cy="365760"/>
          </a:xfrm>
          <a:prstGeom prst="rect">
            <a:avLst/>
          </a:prstGeom>
        </p:spPr>
      </p:pic>
      <p:sp>
        <p:nvSpPr>
          <p:cNvPr id="9" name="Texto Ventas"/>
          <p:cNvSpPr txBox="1"/>
          <p:nvPr/>
        </p:nvSpPr>
        <p:spPr>
          <a:xfrm>
            <a:off x="1243584" y="521208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Ventas</a:t>
            </a:r>
            <a:endParaRPr lang="en-US" sz="2000" dirty="0"/>
          </a:p>
        </p:txBody>
      </p:sp>
      <p:sp>
        <p:nvSpPr>
          <p:cNvPr id="10" name="Chip Costos"/>
          <p:cNvSpPr/>
          <p:nvPr/>
        </p:nvSpPr>
        <p:spPr>
          <a:xfrm>
            <a:off x="2788920" y="521208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mage 1" descr="Cos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372" y="5394960"/>
            <a:ext cx="365760" cy="365760"/>
          </a:xfrm>
          <a:prstGeom prst="rect">
            <a:avLst/>
          </a:prstGeom>
        </p:spPr>
      </p:pic>
      <p:sp>
        <p:nvSpPr>
          <p:cNvPr id="12" name="Texto Costos"/>
          <p:cNvSpPr txBox="1"/>
          <p:nvPr/>
        </p:nvSpPr>
        <p:spPr>
          <a:xfrm>
            <a:off x="3470148" y="521208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Costos</a:t>
            </a:r>
            <a:endParaRPr lang="en-US" sz="2000" dirty="0"/>
          </a:p>
        </p:txBody>
      </p:sp>
      <p:sp>
        <p:nvSpPr>
          <p:cNvPr id="13" name="Chip Caja"/>
          <p:cNvSpPr/>
          <p:nvPr/>
        </p:nvSpPr>
        <p:spPr>
          <a:xfrm>
            <a:off x="5029200" y="521208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4" name="Image 2" descr="Ca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5394960"/>
            <a:ext cx="365760" cy="365760"/>
          </a:xfrm>
          <a:prstGeom prst="rect">
            <a:avLst/>
          </a:prstGeom>
        </p:spPr>
      </p:pic>
      <p:sp>
        <p:nvSpPr>
          <p:cNvPr id="15" name="Texto Caja"/>
          <p:cNvSpPr txBox="1"/>
          <p:nvPr/>
        </p:nvSpPr>
        <p:spPr>
          <a:xfrm>
            <a:off x="5870448" y="52120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Caja</a:t>
            </a:r>
            <a:endParaRPr lang="en-US" sz="2000" dirty="0"/>
          </a:p>
        </p:txBody>
      </p:sp>
      <p:sp>
        <p:nvSpPr>
          <p:cNvPr id="16" name="Conector"/>
          <p:cNvSpPr/>
          <p:nvPr/>
        </p:nvSpPr>
        <p:spPr>
          <a:xfrm>
            <a:off x="1417320" y="5943600"/>
            <a:ext cx="0" cy="3200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17" name="Conector"/>
          <p:cNvSpPr/>
          <p:nvPr/>
        </p:nvSpPr>
        <p:spPr>
          <a:xfrm>
            <a:off x="3657600" y="5943600"/>
            <a:ext cx="0" cy="3200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18" name="Conector"/>
          <p:cNvSpPr/>
          <p:nvPr/>
        </p:nvSpPr>
        <p:spPr>
          <a:xfrm>
            <a:off x="5897880" y="5943600"/>
            <a:ext cx="0" cy="3200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19" name="Conector"/>
          <p:cNvSpPr/>
          <p:nvPr/>
        </p:nvSpPr>
        <p:spPr>
          <a:xfrm>
            <a:off x="1417320" y="6263640"/>
            <a:ext cx="4480560" cy="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20" name="Conector"/>
          <p:cNvSpPr/>
          <p:nvPr/>
        </p:nvSpPr>
        <p:spPr>
          <a:xfrm>
            <a:off x="3657600" y="6263640"/>
            <a:ext cx="0" cy="27432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21" name="Caja información"/>
          <p:cNvSpPr/>
          <p:nvPr/>
        </p:nvSpPr>
        <p:spPr>
          <a:xfrm>
            <a:off x="548640" y="6537960"/>
            <a:ext cx="62179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o información"/>
          <p:cNvSpPr txBox="1"/>
          <p:nvPr/>
        </p:nvSpPr>
        <p:spPr>
          <a:xfrm>
            <a:off x="548640" y="653796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Información para tomar decisiones</a:t>
            </a:r>
            <a:endParaRPr lang="en-US" sz="2200" dirty="0"/>
          </a:p>
        </p:txBody>
      </p:sp>
      <p:sp>
        <p:nvSpPr>
          <p:cNvPr id="23" name="Firma"/>
          <p:cNvSpPr txBox="1"/>
          <p:nvPr/>
        </p:nvSpPr>
        <p:spPr>
          <a:xfrm>
            <a:off x="548640" y="76809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Derlis Javier Morinigo Ovelar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EL PROBLEMA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Tres preguntas para entender tu negocio.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02/08</a:t>
            </a:r>
            <a:endParaRPr lang="en-US" sz="1200" dirty="0"/>
          </a:p>
        </p:txBody>
      </p:sp>
      <p:sp>
        <p:nvSpPr>
          <p:cNvPr id="6" name="Tarjeta VENTAS"/>
          <p:cNvSpPr/>
          <p:nvPr/>
        </p:nvSpPr>
        <p:spPr>
          <a:xfrm>
            <a:off x="548640" y="2423160"/>
            <a:ext cx="6217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7" name="Círculo VENTAS"/>
          <p:cNvSpPr/>
          <p:nvPr/>
        </p:nvSpPr>
        <p:spPr>
          <a:xfrm>
            <a:off x="804672" y="2724912"/>
            <a:ext cx="768096" cy="7680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8" name="Image 0" descr="VEN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907792"/>
            <a:ext cx="402336" cy="4023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828800" y="264261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chemeClr val="accent1"/>
                </a:solidFill>
              </a:rPr>
              <a:t>VENTAS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828800" y="293522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¿Qué productos o clientes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aportan más?</a:t>
            </a:r>
            <a:endParaRPr lang="en-US" sz="2200" dirty="0"/>
          </a:p>
        </p:txBody>
      </p:sp>
      <p:sp>
        <p:nvSpPr>
          <p:cNvPr id="11" name="Tarjeta RENTABILIDAD"/>
          <p:cNvSpPr/>
          <p:nvPr/>
        </p:nvSpPr>
        <p:spPr>
          <a:xfrm>
            <a:off x="548640" y="3950208"/>
            <a:ext cx="6217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12" name="Círculo RENTABILIDAD"/>
          <p:cNvSpPr/>
          <p:nvPr/>
        </p:nvSpPr>
        <p:spPr>
          <a:xfrm>
            <a:off x="804672" y="4251960"/>
            <a:ext cx="768096" cy="7680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3" name="Image 1" descr="RENTABILID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4434840"/>
            <a:ext cx="402336" cy="40233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828800" y="416966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chemeClr val="accent1"/>
                </a:solidFill>
              </a:rPr>
              <a:t>RENTABILIDAD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1828800" y="446227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¿Qué queda después de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los costos y gastos?</a:t>
            </a:r>
            <a:endParaRPr lang="en-US" sz="2200" dirty="0"/>
          </a:p>
        </p:txBody>
      </p:sp>
      <p:sp>
        <p:nvSpPr>
          <p:cNvPr id="16" name="Tarjeta CAJA"/>
          <p:cNvSpPr/>
          <p:nvPr/>
        </p:nvSpPr>
        <p:spPr>
          <a:xfrm>
            <a:off x="548640" y="5477256"/>
            <a:ext cx="6217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17" name="Círculo CAJA"/>
          <p:cNvSpPr/>
          <p:nvPr/>
        </p:nvSpPr>
        <p:spPr>
          <a:xfrm>
            <a:off x="804672" y="5779008"/>
            <a:ext cx="768096" cy="76809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Image 2" descr="CA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961888"/>
            <a:ext cx="402336" cy="4023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828800" y="569671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chemeClr val="accent1"/>
                </a:solidFill>
              </a:rPr>
              <a:t>CAJA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1828800" y="59893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¿Cuánto efectivo necesito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en las próximas semanas?</a:t>
            </a:r>
            <a:endParaRPr lang="en-US" sz="2200" dirty="0"/>
          </a:p>
        </p:txBody>
      </p:sp>
      <p:sp>
        <p:nvSpPr>
          <p:cNvPr id="21" name="Frase final"/>
          <p:cNvSpPr txBox="1"/>
          <p:nvPr/>
        </p:nvSpPr>
        <p:spPr>
          <a:xfrm>
            <a:off x="548640" y="717804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Vender, ganar y cobrar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son cosas diferentes.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LA PROPUESTA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Impulso</a:t>
            </a:r>
            <a:endParaRPr lang="en-US" sz="3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accent2"/>
                </a:solidFill>
              </a:rPr>
              <a:t>Empresarial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03/08</a:t>
            </a:r>
            <a:endParaRPr lang="en-US" sz="1200" dirty="0"/>
          </a:p>
        </p:txBody>
      </p:sp>
      <p:sp>
        <p:nvSpPr>
          <p:cNvPr id="6" name="Descripción"/>
          <p:cNvSpPr txBox="1"/>
          <p:nvPr/>
        </p:nvSpPr>
        <p:spPr>
          <a:xfrm>
            <a:off x="548640" y="23774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Una consultoría de Inteligencia de Negocios pensada para las MIPYMES.</a:t>
            </a:r>
            <a:endParaRPr lang="en-US" sz="2200" dirty="0"/>
          </a:p>
        </p:txBody>
      </p:sp>
      <p:sp>
        <p:nvSpPr>
          <p:cNvPr id="7" name="Línea de flujo"/>
          <p:cNvSpPr/>
          <p:nvPr/>
        </p:nvSpPr>
        <p:spPr>
          <a:xfrm>
            <a:off x="1554480" y="4114800"/>
            <a:ext cx="4206240" cy="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8" name="Círculo Ordenar"/>
          <p:cNvSpPr/>
          <p:nvPr/>
        </p:nvSpPr>
        <p:spPr>
          <a:xfrm>
            <a:off x="1097280" y="3657600"/>
            <a:ext cx="914400" cy="914400"/>
          </a:xfrm>
          <a:prstGeom prst="ellipse">
            <a:avLst/>
          </a:prstGeom>
          <a:solidFill>
            <a:schemeClr val="accent2"/>
          </a:solidFill>
          <a:ln w="50800">
            <a:solidFill>
              <a:schemeClr val="tx1"/>
            </a:solidFill>
            <a:prstDash val="solid"/>
          </a:ln>
        </p:spPr>
      </p:sp>
      <p:pic>
        <p:nvPicPr>
          <p:cNvPr id="9" name="Image 0" descr="Orden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3895344"/>
            <a:ext cx="438912" cy="4389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47548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Ordenar</a:t>
            </a:r>
            <a:endParaRPr 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52120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Integrar y validar los datos.</a:t>
            </a:r>
            <a:endParaRPr lang="en-US" sz="2000" dirty="0"/>
          </a:p>
        </p:txBody>
      </p:sp>
      <p:sp>
        <p:nvSpPr>
          <p:cNvPr id="12" name="Círculo Visualizar"/>
          <p:cNvSpPr/>
          <p:nvPr/>
        </p:nvSpPr>
        <p:spPr>
          <a:xfrm>
            <a:off x="3200400" y="3657600"/>
            <a:ext cx="914400" cy="914400"/>
          </a:xfrm>
          <a:prstGeom prst="ellipse">
            <a:avLst/>
          </a:prstGeom>
          <a:solidFill>
            <a:schemeClr val="accent2"/>
          </a:solidFill>
          <a:ln w="50800">
            <a:solidFill>
              <a:schemeClr val="tx1"/>
            </a:solidFill>
            <a:prstDash val="solid"/>
          </a:ln>
        </p:spPr>
      </p:sp>
      <p:pic>
        <p:nvPicPr>
          <p:cNvPr id="13" name="Image 1" descr="Visualiz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144" y="3895344"/>
            <a:ext cx="438912" cy="43891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651760" y="47548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Visualizar</a:t>
            </a:r>
            <a:endParaRPr lang="en-US" sz="2400" dirty="0"/>
          </a:p>
        </p:txBody>
      </p:sp>
      <p:sp>
        <p:nvSpPr>
          <p:cNvPr id="15" name="Text 10"/>
          <p:cNvSpPr txBox="1"/>
          <p:nvPr/>
        </p:nvSpPr>
        <p:spPr>
          <a:xfrm>
            <a:off x="2697480" y="52120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Ver indicadores en tableros claros.</a:t>
            </a:r>
            <a:endParaRPr lang="en-US" sz="2000" dirty="0"/>
          </a:p>
        </p:txBody>
      </p:sp>
      <p:sp>
        <p:nvSpPr>
          <p:cNvPr id="16" name="Círculo Decidir"/>
          <p:cNvSpPr/>
          <p:nvPr/>
        </p:nvSpPr>
        <p:spPr>
          <a:xfrm>
            <a:off x="5303520" y="3657600"/>
            <a:ext cx="914400" cy="914400"/>
          </a:xfrm>
          <a:prstGeom prst="ellipse">
            <a:avLst/>
          </a:prstGeom>
          <a:solidFill>
            <a:schemeClr val="accent2"/>
          </a:solidFill>
          <a:ln w="50800">
            <a:solidFill>
              <a:schemeClr val="tx1"/>
            </a:solidFill>
            <a:prstDash val="solid"/>
          </a:ln>
        </p:spPr>
      </p:sp>
      <p:pic>
        <p:nvPicPr>
          <p:cNvPr id="17" name="Image 2" descr="Decidi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264" y="3895344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754880" y="47548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Decidir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4800600" y="521208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Elegir el siguiente paso con datos.</a:t>
            </a:r>
            <a:endParaRPr lang="en-US" sz="2000" dirty="0"/>
          </a:p>
        </p:txBody>
      </p:sp>
      <p:sp>
        <p:nvSpPr>
          <p:cNvPr id="20" name="Caja alcance"/>
          <p:cNvSpPr/>
          <p:nvPr/>
        </p:nvSpPr>
        <p:spPr>
          <a:xfrm>
            <a:off x="548640" y="6812280"/>
            <a:ext cx="6217920" cy="96012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mage 3" descr="Ubicació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7068312"/>
            <a:ext cx="438912" cy="438912"/>
          </a:xfrm>
          <a:prstGeom prst="rect">
            <a:avLst/>
          </a:prstGeom>
        </p:spPr>
      </p:pic>
      <p:sp>
        <p:nvSpPr>
          <p:cNvPr id="22" name="Texto alcance"/>
          <p:cNvSpPr txBox="1"/>
          <p:nvPr/>
        </p:nvSpPr>
        <p:spPr>
          <a:xfrm>
            <a:off x="1463040" y="681228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Foco inicial: </a:t>
            </a:r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San Lorenzo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y el área metropolitana.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LOS SERVICIOS PROPUESTOS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Qué incluiría el servicio.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04/08</a:t>
            </a:r>
            <a:endParaRPr lang="en-US" sz="1200" dirty="0"/>
          </a:p>
        </p:txBody>
      </p:sp>
      <p:sp>
        <p:nvSpPr>
          <p:cNvPr id="6" name="Tarjeta Diagnóstico"/>
          <p:cNvSpPr/>
          <p:nvPr/>
        </p:nvSpPr>
        <p:spPr>
          <a:xfrm>
            <a:off x="548640" y="1874520"/>
            <a:ext cx="3017520" cy="2834640"/>
          </a:xfrm>
          <a:prstGeom prst="roundRect">
            <a:avLst>
              <a:gd name="adj" fmla="val 4516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7" name="Círculo Diagnóstico"/>
          <p:cNvSpPr/>
          <p:nvPr/>
        </p:nvSpPr>
        <p:spPr>
          <a:xfrm>
            <a:off x="795528" y="2121408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Diagnósti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86000"/>
            <a:ext cx="347472" cy="34747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95528" y="2898648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Diagnóstico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795528" y="364845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Datos disponibles y necesidades de gestión.</a:t>
            </a:r>
            <a:endParaRPr lang="en-US" sz="2000" dirty="0"/>
          </a:p>
        </p:txBody>
      </p:sp>
      <p:sp>
        <p:nvSpPr>
          <p:cNvPr id="11" name="Tarjeta Tableros de control"/>
          <p:cNvSpPr/>
          <p:nvPr/>
        </p:nvSpPr>
        <p:spPr>
          <a:xfrm>
            <a:off x="3749040" y="1874520"/>
            <a:ext cx="3017520" cy="2834640"/>
          </a:xfrm>
          <a:prstGeom prst="roundRect">
            <a:avLst>
              <a:gd name="adj" fmla="val 4516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12" name="Círculo Tableros de control"/>
          <p:cNvSpPr/>
          <p:nvPr/>
        </p:nvSpPr>
        <p:spPr>
          <a:xfrm>
            <a:off x="3995928" y="2121408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1" descr="Tableros de contr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2286000"/>
            <a:ext cx="347472" cy="34747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995928" y="2898648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Tableros de control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3995928" y="364845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Ventas, costos y resultados en un solo lugar.</a:t>
            </a:r>
            <a:endParaRPr lang="en-US" sz="2000" dirty="0"/>
          </a:p>
        </p:txBody>
      </p:sp>
      <p:sp>
        <p:nvSpPr>
          <p:cNvPr id="16" name="Tarjeta Reportes automatizados"/>
          <p:cNvSpPr/>
          <p:nvPr/>
        </p:nvSpPr>
        <p:spPr>
          <a:xfrm>
            <a:off x="548640" y="4892040"/>
            <a:ext cx="3017520" cy="2834640"/>
          </a:xfrm>
          <a:prstGeom prst="roundRect">
            <a:avLst>
              <a:gd name="adj" fmla="val 4516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17" name="Círculo Reportes automatizados"/>
          <p:cNvSpPr/>
          <p:nvPr/>
        </p:nvSpPr>
        <p:spPr>
          <a:xfrm>
            <a:off x="795528" y="5138928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Reportes automatizad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5303520"/>
            <a:ext cx="347472" cy="34747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95528" y="5916168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Reportes automatizados</a:t>
            </a:r>
            <a:endParaRPr lang="en-US" sz="2100" dirty="0"/>
          </a:p>
        </p:txBody>
      </p:sp>
      <p:sp>
        <p:nvSpPr>
          <p:cNvPr id="20" name="Text 14"/>
          <p:cNvSpPr txBox="1"/>
          <p:nvPr/>
        </p:nvSpPr>
        <p:spPr>
          <a:xfrm>
            <a:off x="795528" y="666597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Menos tareas repetitivas y mayor consistencia.</a:t>
            </a:r>
            <a:endParaRPr lang="en-US" sz="2000" dirty="0"/>
          </a:p>
        </p:txBody>
      </p:sp>
      <p:sp>
        <p:nvSpPr>
          <p:cNvPr id="21" name="Tarjeta Acompañamiento"/>
          <p:cNvSpPr/>
          <p:nvPr/>
        </p:nvSpPr>
        <p:spPr>
          <a:xfrm>
            <a:off x="3749040" y="4892040"/>
            <a:ext cx="3017520" cy="2834640"/>
          </a:xfrm>
          <a:prstGeom prst="roundRect">
            <a:avLst>
              <a:gd name="adj" fmla="val 4516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22" name="Círculo Acompañamiento"/>
          <p:cNvSpPr/>
          <p:nvPr/>
        </p:nvSpPr>
        <p:spPr>
          <a:xfrm>
            <a:off x="3995928" y="5138928"/>
            <a:ext cx="676656" cy="67665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Acompañamient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5303520"/>
            <a:ext cx="347472" cy="34747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3995928" y="5916168"/>
            <a:ext cx="2606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95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Acompañamiento</a:t>
            </a:r>
            <a:endParaRPr lang="en-US" sz="2100" dirty="0"/>
          </a:p>
        </p:txBody>
      </p:sp>
      <p:sp>
        <p:nvSpPr>
          <p:cNvPr id="25" name="Text 18"/>
          <p:cNvSpPr txBox="1"/>
          <p:nvPr/>
        </p:nvSpPr>
        <p:spPr>
          <a:xfrm>
            <a:off x="3995928" y="6665976"/>
            <a:ext cx="263347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Indicadores, capacitación y mejora continua.</a:t>
            </a:r>
            <a:endParaRPr lang="en-US" sz="2000" dirty="0"/>
          </a:p>
        </p:txBody>
      </p:sp>
      <p:pic>
        <p:nvPicPr>
          <p:cNvPr id="26" name="Image 4" descr="Herramienta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7973568"/>
            <a:ext cx="292608" cy="292608"/>
          </a:xfrm>
          <a:prstGeom prst="rect">
            <a:avLst/>
          </a:prstGeom>
        </p:spPr>
      </p:pic>
      <p:sp>
        <p:nvSpPr>
          <p:cNvPr id="27" name="Herramientas"/>
          <p:cNvSpPr txBox="1"/>
          <p:nvPr/>
        </p:nvSpPr>
        <p:spPr>
          <a:xfrm>
            <a:off x="960120" y="7927848"/>
            <a:ext cx="5806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Herramientas como Excel y Power BI.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DEL DATO A LA DECISIÓN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Un tablero puede mostrar</a:t>
            </a:r>
            <a:endParaRPr lang="en-US" sz="3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dónde revisar el margen.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05/08</a:t>
            </a:r>
            <a:endParaRPr lang="en-US" sz="1200" dirty="0"/>
          </a:p>
        </p:txBody>
      </p:sp>
      <p:sp>
        <p:nvSpPr>
          <p:cNvPr id="6" name="Panel tablero"/>
          <p:cNvSpPr/>
          <p:nvPr/>
        </p:nvSpPr>
        <p:spPr>
          <a:xfrm>
            <a:off x="548640" y="2286000"/>
            <a:ext cx="6217920" cy="4663440"/>
          </a:xfrm>
          <a:prstGeom prst="roundRect">
            <a:avLst>
              <a:gd name="adj" fmla="val 2745"/>
            </a:avLst>
          </a:prstGeom>
          <a:solidFill>
            <a:schemeClr val="bg1"/>
          </a:solidFill>
          <a:ln w="9525">
            <a:solidFill>
              <a:srgbClr val="E3E8F0"/>
            </a:solidFill>
            <a:prstDash val="solid"/>
          </a:ln>
          <a:effectLst>
            <a:outerShdw sx="100000" sy="100000" kx="0" ky="0" algn="bl" rotWithShape="0" blurRad="127000" dist="38100" dir="5400000">
              <a:srgbClr val="10243D">
                <a:alpha val="10000"/>
              </a:srgbClr>
            </a:outerShdw>
          </a:effectLst>
        </p:spPr>
      </p:sp>
      <p:sp>
        <p:nvSpPr>
          <p:cNvPr id="7" name="Etiqueta datos simulados"/>
          <p:cNvSpPr/>
          <p:nvPr/>
        </p:nvSpPr>
        <p:spPr>
          <a:xfrm>
            <a:off x="777240" y="2487168"/>
            <a:ext cx="4572000" cy="384048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Texto datos simulados"/>
          <p:cNvSpPr txBox="1"/>
          <p:nvPr/>
        </p:nvSpPr>
        <p:spPr>
          <a:xfrm>
            <a:off x="777240" y="248716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EJEMPLO ILUSTRATIVO · DATOS SIMULADOS</a:t>
            </a:r>
            <a:endParaRPr lang="en-US" sz="1300" dirty="0"/>
          </a:p>
        </p:txBody>
      </p:sp>
      <p:sp>
        <p:nvSpPr>
          <p:cNvPr id="9" name="KPI Ventas del mes"/>
          <p:cNvSpPr/>
          <p:nvPr/>
        </p:nvSpPr>
        <p:spPr>
          <a:xfrm>
            <a:off x="777240" y="3035808"/>
            <a:ext cx="1828800" cy="1170432"/>
          </a:xfrm>
          <a:prstGeom prst="roundRect">
            <a:avLst>
              <a:gd name="adj" fmla="val 781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316382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Gs.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120 M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3675888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Ventas del mes</a:t>
            </a:r>
            <a:endParaRPr lang="en-US" sz="1500" dirty="0"/>
          </a:p>
        </p:txBody>
      </p:sp>
      <p:sp>
        <p:nvSpPr>
          <p:cNvPr id="12" name="KPI Margen bruto"/>
          <p:cNvSpPr/>
          <p:nvPr/>
        </p:nvSpPr>
        <p:spPr>
          <a:xfrm>
            <a:off x="2743200" y="3035808"/>
            <a:ext cx="1828800" cy="1170432"/>
          </a:xfrm>
          <a:prstGeom prst="roundRect">
            <a:avLst>
              <a:gd name="adj" fmla="val 781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880360" y="316382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25 %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2880360" y="3675888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Margen bruto</a:t>
            </a:r>
            <a:endParaRPr lang="en-US" sz="1500" dirty="0"/>
          </a:p>
        </p:txBody>
      </p:sp>
      <p:sp>
        <p:nvSpPr>
          <p:cNvPr id="15" name="KPI Cuentas por cobrar al cierre"/>
          <p:cNvSpPr/>
          <p:nvPr/>
        </p:nvSpPr>
        <p:spPr>
          <a:xfrm>
            <a:off x="4709160" y="3035808"/>
            <a:ext cx="1828800" cy="1170432"/>
          </a:xfrm>
          <a:prstGeom prst="roundRect">
            <a:avLst>
              <a:gd name="adj" fmla="val 7813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0" y="3163824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Gs. </a:t>
            </a:r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45 M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0" y="3675888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Cuentas por cobrar al cierre</a:t>
            </a:r>
            <a:endParaRPr lang="en-US" sz="1500" dirty="0"/>
          </a:p>
        </p:txBody>
      </p:sp>
      <p:sp>
        <p:nvSpPr>
          <p:cNvPr id="18" name="Título gráfico"/>
          <p:cNvSpPr txBox="1"/>
          <p:nvPr/>
        </p:nvSpPr>
        <p:spPr>
          <a:xfrm>
            <a:off x="7772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Margen bruto por línea</a:t>
            </a:r>
            <a:endParaRPr lang="en-US" sz="1600" dirty="0"/>
          </a:p>
        </p:txBody>
      </p:sp>
      <p:graphicFrame>
        <p:nvGraphicFramePr>
          <p:cNvPr id="19" name="Gráfico margen bruto por línea" descr="Gráfico de columnas con datos simulados: margen bruto Línea A 30 %, Línea B 15 %, Línea C 30 %."/>
          <p:cNvGraphicFramePr/>
          <p:nvPr/>
        </p:nvGraphicFramePr>
        <p:xfrm>
          <a:off x="685800" y="4709160"/>
          <a:ext cx="5943600" cy="21214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Caja conclusión"/>
          <p:cNvSpPr/>
          <p:nvPr/>
        </p:nvSpPr>
        <p:spPr>
          <a:xfrm>
            <a:off x="548640" y="7132320"/>
            <a:ext cx="6217920" cy="713232"/>
          </a:xfrm>
          <a:prstGeom prst="roundRect">
            <a:avLst>
              <a:gd name="adj" fmla="val 15385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Marcador Línea B"/>
          <p:cNvSpPr/>
          <p:nvPr/>
        </p:nvSpPr>
        <p:spPr>
          <a:xfrm>
            <a:off x="804672" y="7388352"/>
            <a:ext cx="201168" cy="20116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Conclusión"/>
          <p:cNvSpPr txBox="1"/>
          <p:nvPr/>
        </p:nvSpPr>
        <p:spPr>
          <a:xfrm>
            <a:off x="1143000" y="7132320"/>
            <a:ext cx="5486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3"/>
                </a:solidFill>
              </a:rPr>
              <a:t>Línea B: </a:t>
            </a:r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revisar precios, costos o descuentos.</a:t>
            </a:r>
            <a:endParaRPr lang="en-US" sz="1900" dirty="0"/>
          </a:p>
        </p:txBody>
      </p:sp>
      <p:sp>
        <p:nvSpPr>
          <p:cNvPr id="23" name="Aclaración"/>
          <p:cNvSpPr txBox="1"/>
          <p:nvPr/>
        </p:nvSpPr>
        <p:spPr>
          <a:xfrm>
            <a:off x="548640" y="795528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 = millones de guaraníes.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Margen bruto: antes de gastos operativos, intereses e impuestos.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LA FORMA DE TRABAJAR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Así se plantea</a:t>
            </a:r>
            <a:endParaRPr lang="en-US" sz="3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bg1"/>
                </a:solidFill>
              </a:rPr>
              <a:t>el acompañamiento.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06/08</a:t>
            </a:r>
            <a:endParaRPr lang="en-US" sz="1200" dirty="0"/>
          </a:p>
        </p:txBody>
      </p:sp>
      <p:sp>
        <p:nvSpPr>
          <p:cNvPr id="6" name="Línea de pasos"/>
          <p:cNvSpPr/>
          <p:nvPr/>
        </p:nvSpPr>
        <p:spPr>
          <a:xfrm>
            <a:off x="868680" y="2770632"/>
            <a:ext cx="0" cy="3511296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7" name="Paso 1"/>
          <p:cNvSpPr/>
          <p:nvPr/>
        </p:nvSpPr>
        <p:spPr>
          <a:xfrm>
            <a:off x="548640" y="2450592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1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432304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Entender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28346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Qué decisiones necesita tomar el negocio.</a:t>
            </a:r>
            <a:endParaRPr lang="en-US" sz="2000" dirty="0"/>
          </a:p>
        </p:txBody>
      </p:sp>
      <p:sp>
        <p:nvSpPr>
          <p:cNvPr id="11" name="Paso 2"/>
          <p:cNvSpPr/>
          <p:nvPr/>
        </p:nvSpPr>
        <p:spPr>
          <a:xfrm>
            <a:off x="548640" y="3621024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6210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2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60273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Ordenar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40050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Qué datos hay y qué falta validar.</a:t>
            </a:r>
            <a:endParaRPr lang="en-US" sz="2000" dirty="0"/>
          </a:p>
        </p:txBody>
      </p:sp>
      <p:sp>
        <p:nvSpPr>
          <p:cNvPr id="15" name="Paso 3"/>
          <p:cNvSpPr/>
          <p:nvPr/>
        </p:nvSpPr>
        <p:spPr>
          <a:xfrm>
            <a:off x="548640" y="4791456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79145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4773168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Implementar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5175504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Tablero y reportes según el alcance acordado.</a:t>
            </a:r>
            <a:endParaRPr lang="en-US" sz="2000" dirty="0"/>
          </a:p>
        </p:txBody>
      </p:sp>
      <p:sp>
        <p:nvSpPr>
          <p:cNvPr id="19" name="Paso 4"/>
          <p:cNvSpPr/>
          <p:nvPr/>
        </p:nvSpPr>
        <p:spPr>
          <a:xfrm>
            <a:off x="548640" y="5961888"/>
            <a:ext cx="640080" cy="640080"/>
          </a:xfrm>
          <a:prstGeom prst="ellipse">
            <a:avLst/>
          </a:prstGeom>
          <a:solidFill>
            <a:schemeClr val="accent1"/>
          </a:solidFill>
          <a:ln w="38100">
            <a:solidFill>
              <a:schemeClr val="tx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59618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4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943600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Acompañar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1463040" y="6345936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Cómo usar los indicadores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y mantenerlos útiles.</a:t>
            </a:r>
            <a:endParaRPr lang="en-US" sz="2000" dirty="0"/>
          </a:p>
        </p:txBody>
      </p:sp>
      <p:sp>
        <p:nvSpPr>
          <p:cNvPr id="23" name="Chip Implementación por proyecto"/>
          <p:cNvSpPr/>
          <p:nvPr/>
        </p:nvSpPr>
        <p:spPr>
          <a:xfrm>
            <a:off x="548640" y="7315200"/>
            <a:ext cx="2743200" cy="841248"/>
          </a:xfrm>
          <a:prstGeom prst="roundRect">
            <a:avLst>
              <a:gd name="adj" fmla="val 1304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4" name="Image 0" descr="Implementación por proye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7552944"/>
            <a:ext cx="365760" cy="36576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1280160" y="7315200"/>
            <a:ext cx="1874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Implementación por proyecto</a:t>
            </a:r>
            <a:endParaRPr lang="en-US" sz="1800" dirty="0"/>
          </a:p>
        </p:txBody>
      </p:sp>
      <p:sp>
        <p:nvSpPr>
          <p:cNvPr id="26" name="Chip Seguimiento mensual"/>
          <p:cNvSpPr/>
          <p:nvPr/>
        </p:nvSpPr>
        <p:spPr>
          <a:xfrm>
            <a:off x="4023360" y="7315200"/>
            <a:ext cx="2743200" cy="841248"/>
          </a:xfrm>
          <a:prstGeom prst="roundRect">
            <a:avLst>
              <a:gd name="adj" fmla="val 13043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1" descr="Seguimiento mensu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7552944"/>
            <a:ext cx="365760" cy="36576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4754880" y="7315200"/>
            <a:ext cx="1874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Seguimiento mensual</a:t>
            </a:r>
            <a:endParaRPr lang="en-US" sz="1800" dirty="0"/>
          </a:p>
        </p:txBody>
      </p:sp>
      <p:sp>
        <p:nvSpPr>
          <p:cNvPr id="29" name="Signo más"/>
          <p:cNvSpPr txBox="1"/>
          <p:nvPr/>
        </p:nvSpPr>
        <p:spPr>
          <a:xfrm>
            <a:off x="3291840" y="7315200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+</a:t>
            </a:r>
            <a:endParaRPr lang="en-US" sz="3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EL ORIGEN DE LA IDEA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914400"/>
            <a:ext cx="6217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Una idea que une</a:t>
            </a:r>
            <a:endParaRPr lang="en-US" sz="3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finanzas y datos.</a:t>
            </a:r>
            <a:endParaRPr lang="en-US" sz="3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07/08</a:t>
            </a:r>
            <a:endParaRPr lang="en-US" sz="1200" dirty="0"/>
          </a:p>
        </p:txBody>
      </p:sp>
      <p:sp>
        <p:nvSpPr>
          <p:cNvPr id="6" name="Círculo finanzas"/>
          <p:cNvSpPr/>
          <p:nvPr/>
        </p:nvSpPr>
        <p:spPr>
          <a:xfrm>
            <a:off x="2057400" y="2377440"/>
            <a:ext cx="1828800" cy="1828800"/>
          </a:xfrm>
          <a:prstGeom prst="ellipse">
            <a:avLst/>
          </a:prstGeom>
          <a:solidFill>
            <a:schemeClr val="accent1">
              <a:alpha val="9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7" name="Círculo datos"/>
          <p:cNvSpPr/>
          <p:nvPr/>
        </p:nvSpPr>
        <p:spPr>
          <a:xfrm>
            <a:off x="3429000" y="2377440"/>
            <a:ext cx="1828800" cy="1828800"/>
          </a:xfrm>
          <a:prstGeom prst="ellipse">
            <a:avLst/>
          </a:prstGeom>
          <a:solidFill>
            <a:schemeClr val="accent2">
              <a:alpha val="7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03120" y="3063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Finanzas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063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Datos</a:t>
            </a:r>
            <a:endParaRPr lang="en-US" sz="2000" dirty="0"/>
          </a:p>
        </p:txBody>
      </p:sp>
      <p:sp>
        <p:nvSpPr>
          <p:cNvPr id="10" name="Origen"/>
          <p:cNvSpPr txBox="1"/>
          <p:nvPr/>
        </p:nvSpPr>
        <p:spPr>
          <a:xfrm>
            <a:off x="548640" y="44805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Desarrollé Impulso Empresarial en mi tesis de Ingeniería Comercial.</a:t>
            </a:r>
            <a:endParaRPr lang="en-US" sz="2200" dirty="0"/>
          </a:p>
        </p:txBody>
      </p:sp>
      <p:sp>
        <p:nvSpPr>
          <p:cNvPr id="11" name="Experiencia"/>
          <p:cNvSpPr txBox="1"/>
          <p:nvPr/>
        </p:nvSpPr>
        <p:spPr>
          <a:xfrm>
            <a:off x="548640" y="5285232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Mi experiencia en costos, presupuestos y planificación financiera orienta esta propuesta.</a:t>
            </a:r>
            <a:endParaRPr lang="en-US" sz="2000" dirty="0"/>
          </a:p>
        </p:txBody>
      </p:sp>
      <p:sp>
        <p:nvSpPr>
          <p:cNvPr id="12" name="Caja frase"/>
          <p:cNvSpPr/>
          <p:nvPr/>
        </p:nvSpPr>
        <p:spPr>
          <a:xfrm>
            <a:off x="548640" y="6144768"/>
            <a:ext cx="6217920" cy="960120"/>
          </a:xfrm>
          <a:prstGeom prst="roundRect">
            <a:avLst>
              <a:gd name="adj" fmla="val 13333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3" name="Image 0" descr="Brúju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6400800"/>
            <a:ext cx="457200" cy="457200"/>
          </a:xfrm>
          <a:prstGeom prst="rect">
            <a:avLst/>
          </a:prstGeom>
        </p:spPr>
      </p:pic>
      <p:sp>
        <p:nvSpPr>
          <p:cNvPr id="14" name="Frase destacada"/>
          <p:cNvSpPr txBox="1"/>
          <p:nvPr/>
        </p:nvSpPr>
        <p:spPr>
          <a:xfrm>
            <a:off x="1508760" y="6144768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Entender los números para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elegir el siguiente paso.</a:t>
            </a:r>
            <a:endParaRPr lang="en-US" sz="2200" dirty="0"/>
          </a:p>
        </p:txBody>
      </p:sp>
      <p:sp>
        <p:nvSpPr>
          <p:cNvPr id="15" name="Círculo autor"/>
          <p:cNvSpPr/>
          <p:nvPr/>
        </p:nvSpPr>
        <p:spPr>
          <a:xfrm>
            <a:off x="548640" y="7388352"/>
            <a:ext cx="731520" cy="7315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mage 1" descr="Au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562088"/>
            <a:ext cx="384048" cy="384048"/>
          </a:xfrm>
          <a:prstGeom prst="rect">
            <a:avLst/>
          </a:prstGeom>
        </p:spPr>
      </p:pic>
      <p:sp>
        <p:nvSpPr>
          <p:cNvPr id="17" name="Firma"/>
          <p:cNvSpPr txBox="1"/>
          <p:nvPr/>
        </p:nvSpPr>
        <p:spPr>
          <a:xfrm>
            <a:off x="1481328" y="7388352"/>
            <a:ext cx="52852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Derlis Javier Morinigo Ovelar</a:t>
            </a:r>
            <a:endParaRPr lang="en-US" sz="2000" dirty="0"/>
          </a:p>
        </p:txBody>
      </p:sp>
      <p:sp>
        <p:nvSpPr>
          <p:cNvPr id="18" name="Cargo"/>
          <p:cNvSpPr txBox="1"/>
          <p:nvPr/>
        </p:nvSpPr>
        <p:spPr>
          <a:xfrm>
            <a:off x="1481328" y="7772400"/>
            <a:ext cx="5285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Especialista en Planificación Financiera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5486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2"/>
                </a:solidFill>
              </a:rPr>
              <a:t>CONVERSEMOS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051560"/>
            <a:ext cx="6217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bg1"/>
                </a:solidFill>
              </a:rPr>
              <a:t>¿Qué dato te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bg1"/>
                </a:solidFill>
              </a:rPr>
              <a:t>ayudaría a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chemeClr val="accent2"/>
                </a:solidFill>
              </a:rPr>
              <a:t>decidir mejor?</a:t>
            </a:r>
            <a:endParaRPr lang="en-US" sz="48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4937760" y="8503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08/08</a:t>
            </a:r>
            <a:endParaRPr lang="en-US" sz="1200" dirty="0"/>
          </a:p>
        </p:txBody>
      </p:sp>
      <p:sp>
        <p:nvSpPr>
          <p:cNvPr id="6" name="Chip Ventas"/>
          <p:cNvSpPr/>
          <p:nvPr/>
        </p:nvSpPr>
        <p:spPr>
          <a:xfrm>
            <a:off x="548640" y="365760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7" name="Image 0" descr="Ven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3840480"/>
            <a:ext cx="365760" cy="365760"/>
          </a:xfrm>
          <a:prstGeom prst="rect">
            <a:avLst/>
          </a:prstGeom>
        </p:spPr>
      </p:pic>
      <p:sp>
        <p:nvSpPr>
          <p:cNvPr id="8" name="Texto Ventas"/>
          <p:cNvSpPr txBox="1"/>
          <p:nvPr/>
        </p:nvSpPr>
        <p:spPr>
          <a:xfrm>
            <a:off x="1243584" y="3657600"/>
            <a:ext cx="1024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Ventas</a:t>
            </a:r>
            <a:endParaRPr lang="en-US" sz="2000" dirty="0"/>
          </a:p>
        </p:txBody>
      </p:sp>
      <p:sp>
        <p:nvSpPr>
          <p:cNvPr id="9" name="Chip Costos"/>
          <p:cNvSpPr/>
          <p:nvPr/>
        </p:nvSpPr>
        <p:spPr>
          <a:xfrm>
            <a:off x="2788920" y="365760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0" name="Image 1" descr="Cos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372" y="3840480"/>
            <a:ext cx="365760" cy="365760"/>
          </a:xfrm>
          <a:prstGeom prst="rect">
            <a:avLst/>
          </a:prstGeom>
        </p:spPr>
      </p:pic>
      <p:sp>
        <p:nvSpPr>
          <p:cNvPr id="11" name="Texto Costos"/>
          <p:cNvSpPr txBox="1"/>
          <p:nvPr/>
        </p:nvSpPr>
        <p:spPr>
          <a:xfrm>
            <a:off x="3470148" y="365760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Costos</a:t>
            </a:r>
            <a:endParaRPr lang="en-US" sz="2000" dirty="0"/>
          </a:p>
        </p:txBody>
      </p:sp>
      <p:sp>
        <p:nvSpPr>
          <p:cNvPr id="12" name="Chip Caja"/>
          <p:cNvSpPr/>
          <p:nvPr/>
        </p:nvSpPr>
        <p:spPr>
          <a:xfrm>
            <a:off x="5029200" y="3657600"/>
            <a:ext cx="1737360" cy="731520"/>
          </a:xfrm>
          <a:prstGeom prst="roundRect">
            <a:avLst>
              <a:gd name="adj" fmla="val 15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3" name="Image 2" descr="Caj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2" y="3840480"/>
            <a:ext cx="365760" cy="365760"/>
          </a:xfrm>
          <a:prstGeom prst="rect">
            <a:avLst/>
          </a:prstGeom>
        </p:spPr>
      </p:pic>
      <p:sp>
        <p:nvSpPr>
          <p:cNvPr id="14" name="Texto Caja"/>
          <p:cNvSpPr txBox="1"/>
          <p:nvPr/>
        </p:nvSpPr>
        <p:spPr>
          <a:xfrm>
            <a:off x="5870448" y="3657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Caja</a:t>
            </a:r>
            <a:endParaRPr lang="en-US" sz="2000" dirty="0"/>
          </a:p>
        </p:txBody>
      </p:sp>
      <p:sp>
        <p:nvSpPr>
          <p:cNvPr id="15" name="Invitación"/>
          <p:cNvSpPr txBox="1"/>
          <p:nvPr/>
        </p:nvSpPr>
        <p:spPr>
          <a:xfrm>
            <a:off x="548640" y="4754880"/>
            <a:ext cx="6217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Me interesa conversar con emprendedores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y profesionales para seguir afinando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esta propuesta.</a:t>
            </a:r>
            <a:endParaRPr lang="en-US" sz="2200" dirty="0"/>
          </a:p>
        </p:txBody>
      </p:sp>
      <p:sp>
        <p:nvSpPr>
          <p:cNvPr id="16" name="Botón llamada a la acción"/>
          <p:cNvSpPr/>
          <p:nvPr/>
        </p:nvSpPr>
        <p:spPr>
          <a:xfrm>
            <a:off x="548640" y="6263640"/>
            <a:ext cx="621792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7" name="Llamada a la acción"/>
          <p:cNvSpPr txBox="1"/>
          <p:nvPr/>
        </p:nvSpPr>
        <p:spPr>
          <a:xfrm>
            <a:off x="914400" y="626364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Visita mi perfil y conversemos.</a:t>
            </a:r>
            <a:endParaRPr lang="en-US" sz="2200" dirty="0"/>
          </a:p>
        </p:txBody>
      </p:sp>
      <p:sp>
        <p:nvSpPr>
          <p:cNvPr id="18" name="Círculo flecha"/>
          <p:cNvSpPr/>
          <p:nvPr/>
        </p:nvSpPr>
        <p:spPr>
          <a:xfrm>
            <a:off x="6035040" y="6391656"/>
            <a:ext cx="612648" cy="6126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3" descr="Flech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6528816"/>
            <a:ext cx="338328" cy="338328"/>
          </a:xfrm>
          <a:prstGeom prst="rect">
            <a:avLst/>
          </a:prstGeom>
        </p:spPr>
      </p:pic>
      <p:sp>
        <p:nvSpPr>
          <p:cNvPr id="20" name="Firma"/>
          <p:cNvSpPr txBox="1"/>
          <p:nvPr/>
        </p:nvSpPr>
        <p:spPr>
          <a:xfrm>
            <a:off x="548640" y="75895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Derlis Javier Morinigo Ovelar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pulso Empresarial">
  <a:themeElements>
    <a:clrScheme name="Impulso Empresarial">
      <a:dk1>
        <a:srgbClr val="10243D"/>
      </a:dk1>
      <a:lt1>
        <a:srgbClr val="FFFFFF"/>
      </a:lt1>
      <a:dk2>
        <a:srgbClr val="4A5B73"/>
      </a:dk2>
      <a:lt2>
        <a:srgbClr val="F7F8FC"/>
      </a:lt2>
      <a:accent1>
        <a:srgbClr val="276EF1"/>
      </a:accent1>
      <a:accent2>
        <a:srgbClr val="82DEFF"/>
      </a:accent2>
      <a:accent3>
        <a:srgbClr val="F4B860"/>
      </a:accent3>
      <a:accent4>
        <a:srgbClr val="1A3658"/>
      </a:accent4>
      <a:accent5>
        <a:srgbClr val="E8F0FE"/>
      </a:accent5>
      <a:accent6>
        <a:srgbClr val="B8C7DB"/>
      </a:accent6>
      <a:hlink>
        <a:srgbClr val="276EF1"/>
      </a:hlink>
      <a:folHlink>
        <a:srgbClr val="1A55C0"/>
      </a:folHlink>
    </a:clrScheme>
    <a:fontScheme name="Impulso Empresaria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Impulso Empresarial | De los datos a las decisiones</dc:title>
  <dc:subject>Idea de negocio desarrollada en una tesis de Ingeniería Comercial</dc:subject>
  <dc:creator>Derlis Javier Morinigo Ovelar</dc:creator>
  <cp:lastModifiedBy>Derlis Javier Morinigo Ovelar</cp:lastModifiedBy>
  <cp:revision>1</cp:revision>
  <dcterms:created xsi:type="dcterms:W3CDTF">2026-10-06T17:18:54Z</dcterms:created>
  <dcterms:modified xsi:type="dcterms:W3CDTF">2026-10-06T17:18:54Z</dcterms:modified>
</cp:coreProperties>
</file>