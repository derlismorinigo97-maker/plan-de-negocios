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bcc7d4c-0308-6f8a-b29f-a8e9d2edaa0b}">
          <p14:sldIdLst>
            <p14:sldId id="256"/>
            <p14:sldId id="257"/>
          </p14:sldIdLst>
        </p14:section>
        <p14:section name="Propuesta" id="{49e5f024-5f0a-6ea7-43a0-e59dd4e8aaf6}">
          <p14:sldIdLst>
            <p14:sldId id="258"/>
            <p14:sldId id="259"/>
            <p14:sldId id="260"/>
            <p14:sldId id="261"/>
          </p14:sldIdLst>
        </p14:section>
        <p14:section name="Origen y cierre" id="{bbcdce7d-8930-9784-e8ff-d13d05b18025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bruto</c:v>
                </c:pt>
              </c:strCache>
            </c:strRef>
          </c:tx>
          <c:spPr>
            <a:solidFill>
              <a:srgbClr val="276EF1"/>
            </a:solidFill>
            <a:effectLst/>
          </c:spPr>
          <c:invertIfNegative val="0"/>
          <c:dLbls>
            <c:numFmt formatCode="0 %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024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6E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B8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6EF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Línea A</c:v>
                  </c:pt>
                  <c:pt idx="1">
                    <c:v>Línea B</c:v>
                  </c:pt>
                  <c:pt idx="2">
                    <c:v>Línea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0.15</c:v>
                </c:pt>
                <c:pt idx="2">
                  <c:v>0.3</c:v>
                </c:pt>
              </c:numCache>
            </c:numRef>
          </c:val>
        </c:ser>
        <c:dLbls>
          <c:numFmt formatCode="0 %" sourceLinked="0"/>
          <c:txPr>
            <a:bodyPr/>
            <a:lstStyle/>
            <a:p>
              <a:pPr>
                <a:defRPr b="1" i="0" strike="noStrike" sz="1600" u="none">
                  <a:solidFill>
                    <a:srgbClr val="1024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3E1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024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0 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Impulso Empresarial se presenta como una idea de negocio desarrollada en la tesis de Ingeniería Comercial de Derlis Javier Morinigo Ovelar; no como una empresa en operación. El diagrama resume la propuesta: datos de ventas, costos y caja integrados en información para tomar decisiones. Referencia: Trabajo Profesional de Grado (2.ª corrección, 13-09): título de la obra y resumen ejecutivo. No se usa el título académico completo de la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preguntas son situaciones habituales de gestión, no resultados de una encuesta ni estadísticas verificadas. Separan tres conceptos distintos: vender (ventas), ganar (rentabilidad: lo que queda después de costos y gastos) y cobrar (caja y liquidez). Un negocio puede vender más y aun así ganar menos, o ganar y no tener efectivo disponible. Referencia: Trabajo Profesional de Grado (2.ª corrección, 13-09), 2.2.1: aplicaciones al seguimiento de ventas, costos y gastos, a la rentabilidad por producto o cliente y al control de inventarios y cobranzas. La pregunta de caja (efectivo de las próximas semanas) va un paso más allá del alcance escrito en la tesis, que menciona cobranzas pero no proyección de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de consultoría unipersonal en Inteligencia de Negocios (Business Intelligence, BI) para micro, pequeñas y medianas empresas. «Ordenar, visualizar, decidir» es una síntesis comercial para este carrusel. Foco inicial: San Lorenzo y el área metropolitana de Paraguay. Es una idea de negocio de la tesis: no se afirma que esté operando ni que tenga clientes. Referencia: Trabajo Profesional de Grado (2.ª corrección, 13-09): resumen ejecutivo; 2.1 y Tabla 1 (consultora unipersonal, MIPYMES, San Lorenzo y área metropolitana, atención presencial y virtual); 2.2.2 (mercado de referencia).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 propuesto del servicio: diagnóstico de información y necesidades, tableros de control, automatización de reportes, definición y análisis de indicadores, capacitación y acompañamiento posterior. Herramientas: Excel y Power BI. Lenguaje de propuesta: no se publican precios, paquetes comerciales ni compromisos contractuales. Referencia: Trabajo Profesional de Grado (2.ª corrección, 13-09): resumen ejecutivo (diagnóstico, tableros, automatización de reportes, análisis de indicadores, mantenimiento mensual); 2.2.1 (capacitación inicial; mantenimiento y soporte mensual); Tabla 2 (integración de planillas Excel); 2.8.1 (Power BI). Los niveles básico, estándar y avanzado y los precios de la Tabla 10 se omiten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ILUSTRATIVO · DATOS SIMULADOS. No pertenecen a clientes, a CIE S.A. ni a resultados de la consultora.
Datos de un mes, en millones de guaraníes (M = millones de guaraníes):
Línea A: ventas 60; costo de ventas 42; utilidad bruta 18; margen bruto 30 %.
Línea B: ventas 40; costo de ventas 34; utilidad bruta 6; margen bruto 15 %.
Línea C: ventas 20; costo de ventas 14; utilidad bruta 6; margen bruto 30 %.
Total: ventas 120; costo de ventas 90; utilidad bruta 30; margen bruto 25 %.
Fórmula: margen bruto = (ventas − costo de ventas) / ventas.
El 25 % total surge de 30 / 120, es decir, está ponderado por ventas. En este ejemplo el promedio simple de 30 %, 15 % y 30 % también da 25 %, pero solo por coincidencia: si cambia la mezcla de ventas, el promedio simple deja de coincidir y el cálculo correcto sigue siendo utilidad bruta total / ventas totales.
Margen bruto: antes de gastos operativos, intereses e impuestos. No es utilidad neta.
Cuentas por cobrar al cierre: Gs. 45 millones. Es un saldo adicional simulado; no son cobros del mes ni flujo de caja, ni una parte adicional de las ventas que deba sumarse a los Gs. 120 millones.
Lectura: la Línea B tiene la mitad del margen de A y C. El tablero no da la respuesta; indica dónde revisar (precios, costos o descuentos) antes de decidir.
El gráfico es nativo de PowerPoint: los datos se editan con clic derecho &gt; Editar datos.
Referencia: Trabajo Profesional de Grado (2.ª corrección, 13-09), 2.2.1: «un tablero comercial podrá mostrar la evolución de las ventas y los márgenes por producto». Los importes del ejemplo no provienen de la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Proceso propuesto en cuatro pasos: entender las decisiones, ordenar y validar los datos, implementar tablero y reportes según el alcance acordado, y acompañar el uso de los indicadores. Modalidad: implementación por proyecto más seguimiento mensual. No se fijan plazos, cantidad de reuniones ni compromisos contractuales. Referencia: Trabajo Profesional de Grado (2.ª corrección, 13-09): 7.4, Tablas 24, 25 y 27 (diagnóstico y propuesta, ejecución del servicio, seguimiento posventa) y 2.2.1 (implementación por proyecto; mantenimiento como prestación recurrente). En la tesis la prestación mensual se denomina «mantenimiento y soporte»; «seguimiento mensual» es la forma simplificada usada en el carrusel.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profesional del autor, sin convertir la página en un currículum. Impulso Empresarial se desarrolló como proyecto de tesis de Ingeniería Comercial; no se usa el título de Ingeniero Comercial ni se afirma que la tesis ya fue defendida. No se menciona al empleador actual ni logros comerciales de Impulso Empresarial. Referencia: Trabajo Profesional de Grado (2.ª corrección, 13-09): portada (autor y carrera) y 4.8 (la experiencia profesional del consultor como parte de la ventaja competitiva).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Invitación a conversar para seguir afinando la propuesta y a visitar el perfil de LinkedIn. No se agregan teléfono, correo, QR, enlaces ni ofertas (por ejemplo, diagnósticos gratuitos). Referencia: Trabajo Profesional de Grado (2.ª corrección, 13-09): 2.8.1 prevé LinkedIn como canal de contacto; el resumen ejecutivo indica que la captación y la disposición de pago deben validarse antes de implementar. Las conversaciones que genere el carrusel son señales cualitativas, no una validación de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E 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621792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800" dirty="0"/>
          </a:p>
        </p:txBody>
      </p:sp>
      <p:sp>
        <p:nvSpPr>
          <p:cNvPr id="4" name="Text 0"/>
          <p:cNvSpPr/>
          <p:nvPr/>
        </p:nvSpPr>
        <p:spPr>
          <a:xfrm>
            <a:off x="548640" y="8503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Impulso Empresarial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b="1" dirty="0">
                <a:solidFill>
                  <a:schemeClr val="accent6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E Contenido 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800" dirty="0"/>
          </a:p>
        </p:txBody>
      </p:sp>
      <p:sp>
        <p:nvSpPr>
          <p:cNvPr id="4" name="Text 0"/>
          <p:cNvSpPr/>
          <p:nvPr/>
        </p:nvSpPr>
        <p:spPr>
          <a:xfrm>
            <a:off x="548640" y="8503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Impulso Empresarial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E Contenido 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800" dirty="0"/>
          </a:p>
        </p:txBody>
      </p:sp>
      <p:sp>
        <p:nvSpPr>
          <p:cNvPr id="4" name="Text 0"/>
          <p:cNvSpPr/>
          <p:nvPr/>
        </p:nvSpPr>
        <p:spPr>
          <a:xfrm>
            <a:off x="548640" y="8503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Impulso Empresarial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b="1" dirty="0">
                <a:solidFill>
                  <a:schemeClr val="accent6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PROYECTO DE TESIS · PARAGUAY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Tu negocio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genera datos.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accent2"/>
                </a:solidFill>
              </a:rPr>
              <a:t>¿Los estás usando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para decidir?</a:t>
            </a:r>
            <a:endParaRPr lang="en-US" sz="4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01/08</a:t>
            </a:r>
            <a:endParaRPr lang="en-US" sz="1200" dirty="0"/>
          </a:p>
        </p:txBody>
      </p:sp>
      <p:sp>
        <p:nvSpPr>
          <p:cNvPr id="6" name="Subtítulo"/>
          <p:cNvSpPr txBox="1"/>
          <p:nvPr/>
        </p:nvSpPr>
        <p:spPr>
          <a:xfrm>
            <a:off x="54864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Impulso Empresarial: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inteligencia de negocios para MIPYMES.</a:t>
            </a:r>
            <a:endParaRPr lang="en-US" sz="2200" dirty="0"/>
          </a:p>
        </p:txBody>
      </p:sp>
      <p:sp>
        <p:nvSpPr>
          <p:cNvPr id="7" name="Chip Ventas"/>
          <p:cNvSpPr/>
          <p:nvPr/>
        </p:nvSpPr>
        <p:spPr>
          <a:xfrm>
            <a:off x="548640" y="521208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V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94960"/>
            <a:ext cx="365760" cy="365760"/>
          </a:xfrm>
          <a:prstGeom prst="rect">
            <a:avLst/>
          </a:prstGeom>
        </p:spPr>
      </p:pic>
      <p:sp>
        <p:nvSpPr>
          <p:cNvPr id="9" name="Texto Ventas"/>
          <p:cNvSpPr txBox="1"/>
          <p:nvPr/>
        </p:nvSpPr>
        <p:spPr>
          <a:xfrm>
            <a:off x="1243584" y="521208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Ventas</a:t>
            </a:r>
            <a:endParaRPr lang="en-US" sz="2000" dirty="0"/>
          </a:p>
        </p:txBody>
      </p:sp>
      <p:sp>
        <p:nvSpPr>
          <p:cNvPr id="10" name="Chip Costos"/>
          <p:cNvSpPr/>
          <p:nvPr/>
        </p:nvSpPr>
        <p:spPr>
          <a:xfrm>
            <a:off x="2788920" y="521208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Cos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72" y="5394960"/>
            <a:ext cx="365760" cy="365760"/>
          </a:xfrm>
          <a:prstGeom prst="rect">
            <a:avLst/>
          </a:prstGeom>
        </p:spPr>
      </p:pic>
      <p:sp>
        <p:nvSpPr>
          <p:cNvPr id="12" name="Texto Costos"/>
          <p:cNvSpPr txBox="1"/>
          <p:nvPr/>
        </p:nvSpPr>
        <p:spPr>
          <a:xfrm>
            <a:off x="3470148" y="52120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Costos</a:t>
            </a:r>
            <a:endParaRPr lang="en-US" sz="2000" dirty="0"/>
          </a:p>
        </p:txBody>
      </p:sp>
      <p:sp>
        <p:nvSpPr>
          <p:cNvPr id="13" name="Chip Caja"/>
          <p:cNvSpPr/>
          <p:nvPr/>
        </p:nvSpPr>
        <p:spPr>
          <a:xfrm>
            <a:off x="5029200" y="521208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mage 2" descr="Ca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5394960"/>
            <a:ext cx="365760" cy="365760"/>
          </a:xfrm>
          <a:prstGeom prst="rect">
            <a:avLst/>
          </a:prstGeom>
        </p:spPr>
      </p:pic>
      <p:sp>
        <p:nvSpPr>
          <p:cNvPr id="15" name="Texto Caja"/>
          <p:cNvSpPr txBox="1"/>
          <p:nvPr/>
        </p:nvSpPr>
        <p:spPr>
          <a:xfrm>
            <a:off x="5870448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Caja</a:t>
            </a:r>
            <a:endParaRPr lang="en-US" sz="2000" dirty="0"/>
          </a:p>
        </p:txBody>
      </p:sp>
      <p:sp>
        <p:nvSpPr>
          <p:cNvPr id="16" name="Conector"/>
          <p:cNvSpPr/>
          <p:nvPr/>
        </p:nvSpPr>
        <p:spPr>
          <a:xfrm>
            <a:off x="1417320" y="5943600"/>
            <a:ext cx="0" cy="3200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Conector"/>
          <p:cNvSpPr/>
          <p:nvPr/>
        </p:nvSpPr>
        <p:spPr>
          <a:xfrm>
            <a:off x="3657600" y="5943600"/>
            <a:ext cx="0" cy="3200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8" name="Conector"/>
          <p:cNvSpPr/>
          <p:nvPr/>
        </p:nvSpPr>
        <p:spPr>
          <a:xfrm>
            <a:off x="5897880" y="5943600"/>
            <a:ext cx="0" cy="3200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Conector"/>
          <p:cNvSpPr/>
          <p:nvPr/>
        </p:nvSpPr>
        <p:spPr>
          <a:xfrm>
            <a:off x="1417320" y="6263640"/>
            <a:ext cx="44805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Conector"/>
          <p:cNvSpPr/>
          <p:nvPr/>
        </p:nvSpPr>
        <p:spPr>
          <a:xfrm>
            <a:off x="3657600" y="6263640"/>
            <a:ext cx="0" cy="2743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1" name="Caja información"/>
          <p:cNvSpPr/>
          <p:nvPr/>
        </p:nvSpPr>
        <p:spPr>
          <a:xfrm>
            <a:off x="548640" y="6537960"/>
            <a:ext cx="621792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o información"/>
          <p:cNvSpPr txBox="1"/>
          <p:nvPr/>
        </p:nvSpPr>
        <p:spPr>
          <a:xfrm>
            <a:off x="548640" y="6537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Información para tomar decisiones</a:t>
            </a:r>
            <a:endParaRPr lang="en-US" sz="2200" dirty="0"/>
          </a:p>
        </p:txBody>
      </p:sp>
      <p:sp>
        <p:nvSpPr>
          <p:cNvPr id="23" name="Firma"/>
          <p:cNvSpPr txBox="1"/>
          <p:nvPr/>
        </p:nvSpPr>
        <p:spPr>
          <a:xfrm>
            <a:off x="548640" y="76809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Derlis Javier Morinigo Ovelar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EL PROBLEMA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Tres preguntas para entender tu negocio.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02/08</a:t>
            </a:r>
            <a:endParaRPr lang="en-US" sz="1200" dirty="0"/>
          </a:p>
        </p:txBody>
      </p:sp>
      <p:sp>
        <p:nvSpPr>
          <p:cNvPr id="6" name="Tarjeta VENTAS"/>
          <p:cNvSpPr/>
          <p:nvPr/>
        </p:nvSpPr>
        <p:spPr>
          <a:xfrm>
            <a:off x="548640" y="2423160"/>
            <a:ext cx="6217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7" name="Círculo VENTAS"/>
          <p:cNvSpPr/>
          <p:nvPr/>
        </p:nvSpPr>
        <p:spPr>
          <a:xfrm>
            <a:off x="804672" y="2724912"/>
            <a:ext cx="768096" cy="7680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V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9077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642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chemeClr val="accent1"/>
                </a:solidFill>
              </a:rPr>
              <a:t>VENTAS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293522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¿Qué productos o clientes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aportan más?</a:t>
            </a:r>
            <a:endParaRPr lang="en-US" sz="2200" dirty="0"/>
          </a:p>
        </p:txBody>
      </p:sp>
      <p:sp>
        <p:nvSpPr>
          <p:cNvPr id="11" name="Tarjeta RENTABILIDAD"/>
          <p:cNvSpPr/>
          <p:nvPr/>
        </p:nvSpPr>
        <p:spPr>
          <a:xfrm>
            <a:off x="548640" y="3950208"/>
            <a:ext cx="6217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12" name="Círculo RENTABILIDAD"/>
          <p:cNvSpPr/>
          <p:nvPr/>
        </p:nvSpPr>
        <p:spPr>
          <a:xfrm>
            <a:off x="804672" y="4251960"/>
            <a:ext cx="768096" cy="7680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Image 1" descr="RENTABIL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43484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4169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chemeClr val="accent1"/>
                </a:solidFill>
              </a:rPr>
              <a:t>RENTABILIDAD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828800" y="446227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¿Qué queda después de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los costos y gastos?</a:t>
            </a:r>
            <a:endParaRPr lang="en-US" sz="2200" dirty="0"/>
          </a:p>
        </p:txBody>
      </p:sp>
      <p:sp>
        <p:nvSpPr>
          <p:cNvPr id="16" name="Tarjeta CAJA"/>
          <p:cNvSpPr/>
          <p:nvPr/>
        </p:nvSpPr>
        <p:spPr>
          <a:xfrm>
            <a:off x="548640" y="5477256"/>
            <a:ext cx="6217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17" name="Círculo CAJA"/>
          <p:cNvSpPr/>
          <p:nvPr/>
        </p:nvSpPr>
        <p:spPr>
          <a:xfrm>
            <a:off x="804672" y="5779008"/>
            <a:ext cx="768096" cy="7680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mage 2" descr="CA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961888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28800" y="5696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chemeClr val="accent1"/>
                </a:solidFill>
              </a:rPr>
              <a:t>CAJA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828800" y="59893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¿Cuánto efectivo necesito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en las próximas semanas?</a:t>
            </a:r>
            <a:endParaRPr lang="en-US" sz="2200" dirty="0"/>
          </a:p>
        </p:txBody>
      </p:sp>
      <p:sp>
        <p:nvSpPr>
          <p:cNvPr id="21" name="Frase final"/>
          <p:cNvSpPr txBox="1"/>
          <p:nvPr/>
        </p:nvSpPr>
        <p:spPr>
          <a:xfrm>
            <a:off x="548640" y="71780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Vender, ganar y cobrar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son cosas diferentes.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LA PROPUESTA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Impulso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accent2"/>
                </a:solidFill>
              </a:rPr>
              <a:t>Empresarial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03/08</a:t>
            </a:r>
            <a:endParaRPr lang="en-US" sz="1200" dirty="0"/>
          </a:p>
        </p:txBody>
      </p:sp>
      <p:sp>
        <p:nvSpPr>
          <p:cNvPr id="6" name="Descripción"/>
          <p:cNvSpPr txBox="1"/>
          <p:nvPr/>
        </p:nvSpPr>
        <p:spPr>
          <a:xfrm>
            <a:off x="54864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Una consultoría de Inteligencia de Negocios pensada para las MIPYMES.</a:t>
            </a:r>
            <a:endParaRPr lang="en-US" sz="2200" dirty="0"/>
          </a:p>
        </p:txBody>
      </p:sp>
      <p:sp>
        <p:nvSpPr>
          <p:cNvPr id="7" name="Línea de flujo"/>
          <p:cNvSpPr/>
          <p:nvPr/>
        </p:nvSpPr>
        <p:spPr>
          <a:xfrm>
            <a:off x="1554480" y="4114800"/>
            <a:ext cx="42062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8" name="Círculo Ordenar"/>
          <p:cNvSpPr/>
          <p:nvPr/>
        </p:nvSpPr>
        <p:spPr>
          <a:xfrm>
            <a:off x="1097280" y="3657600"/>
            <a:ext cx="914400" cy="9144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tx1"/>
            </a:solidFill>
            <a:prstDash val="solid"/>
          </a:ln>
        </p:spPr>
      </p:sp>
      <p:pic>
        <p:nvPicPr>
          <p:cNvPr id="9" name="Image 0" descr="Orden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389534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754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Ordenar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5212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Integrar y validar los datos.</a:t>
            </a:r>
            <a:endParaRPr lang="en-US" sz="2000" dirty="0"/>
          </a:p>
        </p:txBody>
      </p:sp>
      <p:sp>
        <p:nvSpPr>
          <p:cNvPr id="12" name="Círculo Visualizar"/>
          <p:cNvSpPr/>
          <p:nvPr/>
        </p:nvSpPr>
        <p:spPr>
          <a:xfrm>
            <a:off x="3200400" y="3657600"/>
            <a:ext cx="914400" cy="9144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tx1"/>
            </a:solidFill>
            <a:prstDash val="solid"/>
          </a:ln>
        </p:spPr>
      </p:sp>
      <p:pic>
        <p:nvPicPr>
          <p:cNvPr id="13" name="Image 1" descr="Visualiz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389534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4754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Visualizar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2697480" y="5212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Ver indicadores en tableros claros.</a:t>
            </a:r>
            <a:endParaRPr lang="en-US" sz="2000" dirty="0"/>
          </a:p>
        </p:txBody>
      </p:sp>
      <p:sp>
        <p:nvSpPr>
          <p:cNvPr id="16" name="Círculo Decidir"/>
          <p:cNvSpPr/>
          <p:nvPr/>
        </p:nvSpPr>
        <p:spPr>
          <a:xfrm>
            <a:off x="5303520" y="3657600"/>
            <a:ext cx="914400" cy="9144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tx1"/>
            </a:solidFill>
            <a:prstDash val="solid"/>
          </a:ln>
        </p:spPr>
      </p:sp>
      <p:pic>
        <p:nvPicPr>
          <p:cNvPr id="17" name="Image 2" descr="Decid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389534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754880" y="4754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Decidir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4800600" y="52120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Elegir el siguiente paso con datos.</a:t>
            </a:r>
            <a:endParaRPr lang="en-US" sz="2000" dirty="0"/>
          </a:p>
        </p:txBody>
      </p:sp>
      <p:sp>
        <p:nvSpPr>
          <p:cNvPr id="20" name="Caja alcance"/>
          <p:cNvSpPr/>
          <p:nvPr/>
        </p:nvSpPr>
        <p:spPr>
          <a:xfrm>
            <a:off x="548640" y="6812280"/>
            <a:ext cx="6217920" cy="96012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Ubica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7068312"/>
            <a:ext cx="438912" cy="438912"/>
          </a:xfrm>
          <a:prstGeom prst="rect">
            <a:avLst/>
          </a:prstGeom>
        </p:spPr>
      </p:pic>
      <p:sp>
        <p:nvSpPr>
          <p:cNvPr id="22" name="Texto alcance"/>
          <p:cNvSpPr txBox="1"/>
          <p:nvPr/>
        </p:nvSpPr>
        <p:spPr>
          <a:xfrm>
            <a:off x="1463040" y="68122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Foco inicial: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San Lorenzo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y el área metropolitana.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LOS SERVICIOS PROPUESTOS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Qué incluiría el servicio.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04/08</a:t>
            </a:r>
            <a:endParaRPr lang="en-US" sz="1200" dirty="0"/>
          </a:p>
        </p:txBody>
      </p:sp>
      <p:sp>
        <p:nvSpPr>
          <p:cNvPr id="6" name="Tarjeta Diagnóstico"/>
          <p:cNvSpPr/>
          <p:nvPr/>
        </p:nvSpPr>
        <p:spPr>
          <a:xfrm>
            <a:off x="548640" y="1874520"/>
            <a:ext cx="301752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7" name="Círculo Diagnóstico"/>
          <p:cNvSpPr/>
          <p:nvPr/>
        </p:nvSpPr>
        <p:spPr>
          <a:xfrm>
            <a:off x="795528" y="212140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Diagnóst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" y="289864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Diagnóstico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795528" y="364845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Datos disponibles y necesidades de gestión.</a:t>
            </a:r>
            <a:endParaRPr lang="en-US" sz="2000" dirty="0"/>
          </a:p>
        </p:txBody>
      </p:sp>
      <p:sp>
        <p:nvSpPr>
          <p:cNvPr id="11" name="Tarjeta Tableros de control"/>
          <p:cNvSpPr/>
          <p:nvPr/>
        </p:nvSpPr>
        <p:spPr>
          <a:xfrm>
            <a:off x="3749040" y="1874520"/>
            <a:ext cx="301752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12" name="Círculo Tableros de control"/>
          <p:cNvSpPr/>
          <p:nvPr/>
        </p:nvSpPr>
        <p:spPr>
          <a:xfrm>
            <a:off x="3995928" y="212140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Tableros de contr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2860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95928" y="289864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Tableros de control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3995928" y="364845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Ventas, costos y resultados en un solo lugar.</a:t>
            </a:r>
            <a:endParaRPr lang="en-US" sz="2000" dirty="0"/>
          </a:p>
        </p:txBody>
      </p:sp>
      <p:sp>
        <p:nvSpPr>
          <p:cNvPr id="16" name="Tarjeta Reportes automatizados"/>
          <p:cNvSpPr/>
          <p:nvPr/>
        </p:nvSpPr>
        <p:spPr>
          <a:xfrm>
            <a:off x="548640" y="4892040"/>
            <a:ext cx="301752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17" name="Círculo Reportes automatizados"/>
          <p:cNvSpPr/>
          <p:nvPr/>
        </p:nvSpPr>
        <p:spPr>
          <a:xfrm>
            <a:off x="795528" y="513892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Reportes automatiz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5528" y="59161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Reportes automatizados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795528" y="666597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Menos tareas repetitivas y mayor consistencia.</a:t>
            </a:r>
            <a:endParaRPr lang="en-US" sz="2000" dirty="0"/>
          </a:p>
        </p:txBody>
      </p:sp>
      <p:sp>
        <p:nvSpPr>
          <p:cNvPr id="21" name="Tarjeta Acompañamiento"/>
          <p:cNvSpPr/>
          <p:nvPr/>
        </p:nvSpPr>
        <p:spPr>
          <a:xfrm>
            <a:off x="3749040" y="4892040"/>
            <a:ext cx="301752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22" name="Círculo Acompañamiento"/>
          <p:cNvSpPr/>
          <p:nvPr/>
        </p:nvSpPr>
        <p:spPr>
          <a:xfrm>
            <a:off x="3995928" y="513892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Acompañamien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3035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5928" y="59161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Acompañamiento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3995928" y="666597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Indicadores, capacitación y mejora continua.</a:t>
            </a:r>
            <a:endParaRPr lang="en-US" sz="2000" dirty="0"/>
          </a:p>
        </p:txBody>
      </p:sp>
      <p:pic>
        <p:nvPicPr>
          <p:cNvPr id="26" name="Image 4" descr="Herramient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7973568"/>
            <a:ext cx="292608" cy="292608"/>
          </a:xfrm>
          <a:prstGeom prst="rect">
            <a:avLst/>
          </a:prstGeom>
        </p:spPr>
      </p:pic>
      <p:sp>
        <p:nvSpPr>
          <p:cNvPr id="27" name="Herramientas"/>
          <p:cNvSpPr txBox="1"/>
          <p:nvPr/>
        </p:nvSpPr>
        <p:spPr>
          <a:xfrm>
            <a:off x="960120" y="7927848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Herramientas como Excel y Power BI.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DEL DATO A LA DECISIÓN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Un tablero puede mostrar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dónde revisar el margen.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05/08</a:t>
            </a:r>
            <a:endParaRPr lang="en-US" sz="1200" dirty="0"/>
          </a:p>
        </p:txBody>
      </p:sp>
      <p:sp>
        <p:nvSpPr>
          <p:cNvPr id="6" name="Panel tablero"/>
          <p:cNvSpPr/>
          <p:nvPr/>
        </p:nvSpPr>
        <p:spPr>
          <a:xfrm>
            <a:off x="548640" y="2286000"/>
            <a:ext cx="6217920" cy="4663440"/>
          </a:xfrm>
          <a:prstGeom prst="roundRect">
            <a:avLst>
              <a:gd name="adj" fmla="val 2745"/>
            </a:avLst>
          </a:prstGeom>
          <a:solidFill>
            <a:schemeClr val="bg1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D">
                <a:alpha val="10000"/>
              </a:srgbClr>
            </a:outerShdw>
          </a:effectLst>
        </p:spPr>
      </p:sp>
      <p:sp>
        <p:nvSpPr>
          <p:cNvPr id="7" name="Etiqueta datos simulados"/>
          <p:cNvSpPr/>
          <p:nvPr/>
        </p:nvSpPr>
        <p:spPr>
          <a:xfrm>
            <a:off x="777240" y="2487168"/>
            <a:ext cx="457200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o datos simulados"/>
          <p:cNvSpPr txBox="1"/>
          <p:nvPr/>
        </p:nvSpPr>
        <p:spPr>
          <a:xfrm>
            <a:off x="777240" y="2487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EJEMPLO ILUSTRATIVO · DATOS SIMULADOS</a:t>
            </a:r>
            <a:endParaRPr lang="en-US" sz="1300" dirty="0"/>
          </a:p>
        </p:txBody>
      </p:sp>
      <p:sp>
        <p:nvSpPr>
          <p:cNvPr id="9" name="KPI Ventas del mes"/>
          <p:cNvSpPr/>
          <p:nvPr/>
        </p:nvSpPr>
        <p:spPr>
          <a:xfrm>
            <a:off x="777240" y="3035808"/>
            <a:ext cx="1828800" cy="1170432"/>
          </a:xfrm>
          <a:prstGeom prst="roundRect">
            <a:avLst>
              <a:gd name="adj" fmla="val 781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1638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Gs.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120 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6758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Ventas del mes</a:t>
            </a:r>
            <a:endParaRPr lang="en-US" sz="1500" dirty="0"/>
          </a:p>
        </p:txBody>
      </p:sp>
      <p:sp>
        <p:nvSpPr>
          <p:cNvPr id="12" name="KPI Margen bruto"/>
          <p:cNvSpPr/>
          <p:nvPr/>
        </p:nvSpPr>
        <p:spPr>
          <a:xfrm>
            <a:off x="2743200" y="3035808"/>
            <a:ext cx="1828800" cy="1170432"/>
          </a:xfrm>
          <a:prstGeom prst="roundRect">
            <a:avLst>
              <a:gd name="adj" fmla="val 781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80360" y="31638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25 %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36758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Margen bruto</a:t>
            </a:r>
            <a:endParaRPr lang="en-US" sz="1500" dirty="0"/>
          </a:p>
        </p:txBody>
      </p:sp>
      <p:sp>
        <p:nvSpPr>
          <p:cNvPr id="15" name="KPI Cuentas por cobrar al cierre"/>
          <p:cNvSpPr/>
          <p:nvPr/>
        </p:nvSpPr>
        <p:spPr>
          <a:xfrm>
            <a:off x="4709160" y="3035808"/>
            <a:ext cx="1828800" cy="1170432"/>
          </a:xfrm>
          <a:prstGeom prst="roundRect">
            <a:avLst>
              <a:gd name="adj" fmla="val 781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316382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Gs.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45 M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6758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Cuentas por cobrar al cierre</a:t>
            </a:r>
            <a:endParaRPr lang="en-US" sz="1500" dirty="0"/>
          </a:p>
        </p:txBody>
      </p:sp>
      <p:sp>
        <p:nvSpPr>
          <p:cNvPr id="18" name="Título gráfico"/>
          <p:cNvSpPr txBox="1"/>
          <p:nvPr/>
        </p:nvSpPr>
        <p:spPr>
          <a:xfrm>
            <a:off x="7772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Margen bruto por línea</a:t>
            </a:r>
            <a:endParaRPr lang="en-US" sz="1600" dirty="0"/>
          </a:p>
        </p:txBody>
      </p:sp>
      <p:graphicFrame>
        <p:nvGraphicFramePr>
          <p:cNvPr id="19" name="Gráfico margen bruto por línea" descr="Gráfico de columnas con datos simulados: margen bruto Línea A 30 %, Línea B 15 %, Línea C 30 %."/>
          <p:cNvGraphicFramePr/>
          <p:nvPr/>
        </p:nvGraphicFramePr>
        <p:xfrm>
          <a:off x="685800" y="4709160"/>
          <a:ext cx="594360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Caja conclusión"/>
          <p:cNvSpPr/>
          <p:nvPr/>
        </p:nvSpPr>
        <p:spPr>
          <a:xfrm>
            <a:off x="548640" y="7132320"/>
            <a:ext cx="6217920" cy="713232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Marcador Línea B"/>
          <p:cNvSpPr/>
          <p:nvPr/>
        </p:nvSpPr>
        <p:spPr>
          <a:xfrm>
            <a:off x="804672" y="738835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Conclusión"/>
          <p:cNvSpPr txBox="1"/>
          <p:nvPr/>
        </p:nvSpPr>
        <p:spPr>
          <a:xfrm>
            <a:off x="1143000" y="71323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Línea B: 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revisar precios, costos o descuentos.</a:t>
            </a:r>
            <a:endParaRPr lang="en-US" sz="1900" dirty="0"/>
          </a:p>
        </p:txBody>
      </p:sp>
      <p:sp>
        <p:nvSpPr>
          <p:cNvPr id="23" name="Aclaración"/>
          <p:cNvSpPr txBox="1"/>
          <p:nvPr/>
        </p:nvSpPr>
        <p:spPr>
          <a:xfrm>
            <a:off x="548640" y="79552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 = millones de guaraníes.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Margen bruto: antes de gastos operativos, intereses e impuestos.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LA FORMA DE TRABAJAR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Así se plantea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el acompañamiento.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06/08</a:t>
            </a:r>
            <a:endParaRPr lang="en-US" sz="1200" dirty="0"/>
          </a:p>
        </p:txBody>
      </p:sp>
      <p:sp>
        <p:nvSpPr>
          <p:cNvPr id="6" name="Línea de pasos"/>
          <p:cNvSpPr/>
          <p:nvPr/>
        </p:nvSpPr>
        <p:spPr>
          <a:xfrm>
            <a:off x="868680" y="2770632"/>
            <a:ext cx="0" cy="351129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Paso 1"/>
          <p:cNvSpPr/>
          <p:nvPr/>
        </p:nvSpPr>
        <p:spPr>
          <a:xfrm>
            <a:off x="548640" y="2450592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4323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Entender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8346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Qué decisiones necesita tomar el negocio.</a:t>
            </a:r>
            <a:endParaRPr lang="en-US" sz="2000" dirty="0"/>
          </a:p>
        </p:txBody>
      </p:sp>
      <p:sp>
        <p:nvSpPr>
          <p:cNvPr id="11" name="Paso 2"/>
          <p:cNvSpPr/>
          <p:nvPr/>
        </p:nvSpPr>
        <p:spPr>
          <a:xfrm>
            <a:off x="548640" y="3621024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6027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Ordenar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400507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Qué datos hay y qué falta validar.</a:t>
            </a:r>
            <a:endParaRPr lang="en-US" sz="2000" dirty="0"/>
          </a:p>
        </p:txBody>
      </p:sp>
      <p:sp>
        <p:nvSpPr>
          <p:cNvPr id="15" name="Paso 3"/>
          <p:cNvSpPr/>
          <p:nvPr/>
        </p:nvSpPr>
        <p:spPr>
          <a:xfrm>
            <a:off x="548640" y="4791456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7914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7731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Implementar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517550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Tablero y reportes según el alcance acordado.</a:t>
            </a:r>
            <a:endParaRPr lang="en-US" sz="2000" dirty="0"/>
          </a:p>
        </p:txBody>
      </p:sp>
      <p:sp>
        <p:nvSpPr>
          <p:cNvPr id="19" name="Paso 4"/>
          <p:cNvSpPr/>
          <p:nvPr/>
        </p:nvSpPr>
        <p:spPr>
          <a:xfrm>
            <a:off x="548640" y="59618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961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9436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Acompañar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634593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Cómo usar los indicadores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y mantenerlos útiles.</a:t>
            </a:r>
            <a:endParaRPr lang="en-US" sz="2000" dirty="0"/>
          </a:p>
        </p:txBody>
      </p:sp>
      <p:sp>
        <p:nvSpPr>
          <p:cNvPr id="23" name="Chip Implementación por proyecto"/>
          <p:cNvSpPr/>
          <p:nvPr/>
        </p:nvSpPr>
        <p:spPr>
          <a:xfrm>
            <a:off x="548640" y="7315200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0" descr="Implementación por proy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7552944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280160" y="731520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Implementación por proyecto</a:t>
            </a:r>
            <a:endParaRPr lang="en-US" sz="1800" dirty="0"/>
          </a:p>
        </p:txBody>
      </p:sp>
      <p:sp>
        <p:nvSpPr>
          <p:cNvPr id="26" name="Chip Seguimiento mensual"/>
          <p:cNvSpPr/>
          <p:nvPr/>
        </p:nvSpPr>
        <p:spPr>
          <a:xfrm>
            <a:off x="4023360" y="7315200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1" descr="Seguimiento mensu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7552944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754880" y="731520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Seguimiento mensual</a:t>
            </a:r>
            <a:endParaRPr lang="en-US" sz="1800" dirty="0"/>
          </a:p>
        </p:txBody>
      </p:sp>
      <p:sp>
        <p:nvSpPr>
          <p:cNvPr id="29" name="Signo más"/>
          <p:cNvSpPr txBox="1"/>
          <p:nvPr/>
        </p:nvSpPr>
        <p:spPr>
          <a:xfrm>
            <a:off x="3291840" y="731520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EL ORIGEN DE LA IDEA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Una idea que une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finanzas y datos.</a:t>
            </a:r>
            <a:endParaRPr lang="en-US" sz="3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07/08</a:t>
            </a:r>
            <a:endParaRPr lang="en-US" sz="1200" dirty="0"/>
          </a:p>
        </p:txBody>
      </p:sp>
      <p:sp>
        <p:nvSpPr>
          <p:cNvPr id="6" name="Círculo finanzas"/>
          <p:cNvSpPr/>
          <p:nvPr/>
        </p:nvSpPr>
        <p:spPr>
          <a:xfrm>
            <a:off x="2057400" y="2377440"/>
            <a:ext cx="1828800" cy="1828800"/>
          </a:xfrm>
          <a:prstGeom prst="ellipse">
            <a:avLst/>
          </a:prstGeom>
          <a:solidFill>
            <a:schemeClr val="accent1">
              <a:alpha val="9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" name="Círculo datos"/>
          <p:cNvSpPr/>
          <p:nvPr/>
        </p:nvSpPr>
        <p:spPr>
          <a:xfrm>
            <a:off x="3429000" y="2377440"/>
            <a:ext cx="1828800" cy="182880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0312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Finanzas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Datos</a:t>
            </a:r>
            <a:endParaRPr lang="en-US" sz="2000" dirty="0"/>
          </a:p>
        </p:txBody>
      </p:sp>
      <p:sp>
        <p:nvSpPr>
          <p:cNvPr id="10" name="Origen"/>
          <p:cNvSpPr txBox="1"/>
          <p:nvPr/>
        </p:nvSpPr>
        <p:spPr>
          <a:xfrm>
            <a:off x="548640" y="44805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Desarrollé Impulso Empresarial en mi tesis de Ingeniería Comercial.</a:t>
            </a:r>
            <a:endParaRPr lang="en-US" sz="2200" dirty="0"/>
          </a:p>
        </p:txBody>
      </p:sp>
      <p:sp>
        <p:nvSpPr>
          <p:cNvPr id="11" name="Experiencia"/>
          <p:cNvSpPr txBox="1"/>
          <p:nvPr/>
        </p:nvSpPr>
        <p:spPr>
          <a:xfrm>
            <a:off x="548640" y="528523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Mi experiencia en costos, presupuestos y planificación financiera orienta esta propuesta.</a:t>
            </a:r>
            <a:endParaRPr lang="en-US" sz="2000" dirty="0"/>
          </a:p>
        </p:txBody>
      </p:sp>
      <p:sp>
        <p:nvSpPr>
          <p:cNvPr id="12" name="Caja frase"/>
          <p:cNvSpPr/>
          <p:nvPr/>
        </p:nvSpPr>
        <p:spPr>
          <a:xfrm>
            <a:off x="548640" y="6144768"/>
            <a:ext cx="6217920" cy="96012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mage 0" descr="Brúju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6400800"/>
            <a:ext cx="457200" cy="457200"/>
          </a:xfrm>
          <a:prstGeom prst="rect">
            <a:avLst/>
          </a:prstGeom>
        </p:spPr>
      </p:pic>
      <p:sp>
        <p:nvSpPr>
          <p:cNvPr id="14" name="Frase destacada"/>
          <p:cNvSpPr txBox="1"/>
          <p:nvPr/>
        </p:nvSpPr>
        <p:spPr>
          <a:xfrm>
            <a:off x="1508760" y="61447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Entender los números para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elegir el siguiente paso.</a:t>
            </a:r>
            <a:endParaRPr lang="en-US" sz="2200" dirty="0"/>
          </a:p>
        </p:txBody>
      </p:sp>
      <p:sp>
        <p:nvSpPr>
          <p:cNvPr id="15" name="Círculo autor"/>
          <p:cNvSpPr/>
          <p:nvPr/>
        </p:nvSpPr>
        <p:spPr>
          <a:xfrm>
            <a:off x="548640" y="7388352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1" descr="Au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7562088"/>
            <a:ext cx="384048" cy="384048"/>
          </a:xfrm>
          <a:prstGeom prst="rect">
            <a:avLst/>
          </a:prstGeom>
        </p:spPr>
      </p:pic>
      <p:sp>
        <p:nvSpPr>
          <p:cNvPr id="17" name="Firma"/>
          <p:cNvSpPr txBox="1"/>
          <p:nvPr/>
        </p:nvSpPr>
        <p:spPr>
          <a:xfrm>
            <a:off x="1481328" y="7388352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Derlis Javier Morinigo Ovelar</a:t>
            </a:r>
            <a:endParaRPr lang="en-US" sz="2000" dirty="0"/>
          </a:p>
        </p:txBody>
      </p:sp>
      <p:sp>
        <p:nvSpPr>
          <p:cNvPr id="18" name="Cargo"/>
          <p:cNvSpPr txBox="1"/>
          <p:nvPr/>
        </p:nvSpPr>
        <p:spPr>
          <a:xfrm>
            <a:off x="1481328" y="777240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Especialista en Planificación Financiera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CONVERSEMOS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05156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¿Qué dato te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ayudaría a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accent2"/>
                </a:solidFill>
              </a:rPr>
              <a:t>decidir mejor?</a:t>
            </a:r>
            <a:endParaRPr lang="en-US" sz="4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8503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08/08</a:t>
            </a:r>
            <a:endParaRPr lang="en-US" sz="1200" dirty="0"/>
          </a:p>
        </p:txBody>
      </p:sp>
      <p:sp>
        <p:nvSpPr>
          <p:cNvPr id="6" name="Chip Ventas"/>
          <p:cNvSpPr/>
          <p:nvPr/>
        </p:nvSpPr>
        <p:spPr>
          <a:xfrm>
            <a:off x="548640" y="365760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mage 0" descr="V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840480"/>
            <a:ext cx="365760" cy="365760"/>
          </a:xfrm>
          <a:prstGeom prst="rect">
            <a:avLst/>
          </a:prstGeom>
        </p:spPr>
      </p:pic>
      <p:sp>
        <p:nvSpPr>
          <p:cNvPr id="8" name="Texto Ventas"/>
          <p:cNvSpPr txBox="1"/>
          <p:nvPr/>
        </p:nvSpPr>
        <p:spPr>
          <a:xfrm>
            <a:off x="1243584" y="365760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Ventas</a:t>
            </a:r>
            <a:endParaRPr lang="en-US" sz="2000" dirty="0"/>
          </a:p>
        </p:txBody>
      </p:sp>
      <p:sp>
        <p:nvSpPr>
          <p:cNvPr id="9" name="Chip Costos"/>
          <p:cNvSpPr/>
          <p:nvPr/>
        </p:nvSpPr>
        <p:spPr>
          <a:xfrm>
            <a:off x="2788920" y="365760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Cos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72" y="3840480"/>
            <a:ext cx="365760" cy="365760"/>
          </a:xfrm>
          <a:prstGeom prst="rect">
            <a:avLst/>
          </a:prstGeom>
        </p:spPr>
      </p:pic>
      <p:sp>
        <p:nvSpPr>
          <p:cNvPr id="11" name="Texto Costos"/>
          <p:cNvSpPr txBox="1"/>
          <p:nvPr/>
        </p:nvSpPr>
        <p:spPr>
          <a:xfrm>
            <a:off x="3470148" y="36576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Costos</a:t>
            </a:r>
            <a:endParaRPr lang="en-US" sz="2000" dirty="0"/>
          </a:p>
        </p:txBody>
      </p:sp>
      <p:sp>
        <p:nvSpPr>
          <p:cNvPr id="12" name="Chip Caja"/>
          <p:cNvSpPr/>
          <p:nvPr/>
        </p:nvSpPr>
        <p:spPr>
          <a:xfrm>
            <a:off x="5029200" y="365760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mage 2" descr="Ca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3840480"/>
            <a:ext cx="365760" cy="365760"/>
          </a:xfrm>
          <a:prstGeom prst="rect">
            <a:avLst/>
          </a:prstGeom>
        </p:spPr>
      </p:pic>
      <p:sp>
        <p:nvSpPr>
          <p:cNvPr id="14" name="Texto Caja"/>
          <p:cNvSpPr txBox="1"/>
          <p:nvPr/>
        </p:nvSpPr>
        <p:spPr>
          <a:xfrm>
            <a:off x="5870448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Caja</a:t>
            </a:r>
            <a:endParaRPr lang="en-US" sz="2000" dirty="0"/>
          </a:p>
        </p:txBody>
      </p:sp>
      <p:sp>
        <p:nvSpPr>
          <p:cNvPr id="15" name="Invitación"/>
          <p:cNvSpPr txBox="1"/>
          <p:nvPr/>
        </p:nvSpPr>
        <p:spPr>
          <a:xfrm>
            <a:off x="548640" y="47548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Me interesa conversar con emprendedores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y profesionales para seguir afinando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esta propuesta.</a:t>
            </a:r>
            <a:endParaRPr lang="en-US" sz="2200" dirty="0"/>
          </a:p>
        </p:txBody>
      </p:sp>
      <p:sp>
        <p:nvSpPr>
          <p:cNvPr id="16" name="Botón llamada a la acción"/>
          <p:cNvSpPr/>
          <p:nvPr/>
        </p:nvSpPr>
        <p:spPr>
          <a:xfrm>
            <a:off x="548640" y="6263640"/>
            <a:ext cx="621792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Llamada a la acción"/>
          <p:cNvSpPr txBox="1"/>
          <p:nvPr/>
        </p:nvSpPr>
        <p:spPr>
          <a:xfrm>
            <a:off x="914400" y="6263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Visita mi perfil y conversemos.</a:t>
            </a:r>
            <a:endParaRPr lang="en-US" sz="2200" dirty="0"/>
          </a:p>
        </p:txBody>
      </p:sp>
      <p:sp>
        <p:nvSpPr>
          <p:cNvPr id="18" name="Círculo flecha"/>
          <p:cNvSpPr/>
          <p:nvPr/>
        </p:nvSpPr>
        <p:spPr>
          <a:xfrm>
            <a:off x="6035040" y="6391656"/>
            <a:ext cx="612648" cy="6126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Flech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6528816"/>
            <a:ext cx="338328" cy="338328"/>
          </a:xfrm>
          <a:prstGeom prst="rect">
            <a:avLst/>
          </a:prstGeom>
        </p:spPr>
      </p:pic>
      <p:sp>
        <p:nvSpPr>
          <p:cNvPr id="20" name="Firma"/>
          <p:cNvSpPr txBox="1"/>
          <p:nvPr/>
        </p:nvSpPr>
        <p:spPr>
          <a:xfrm>
            <a:off x="548640" y="7589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Derlis Javier Morinigo Ovelar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pulso Empresarial">
  <a:themeElements>
    <a:clrScheme name="Impulso Empresarial">
      <a:dk1>
        <a:srgbClr val="10243D"/>
      </a:dk1>
      <a:lt1>
        <a:srgbClr val="FFFFFF"/>
      </a:lt1>
      <a:dk2>
        <a:srgbClr val="4A5B73"/>
      </a:dk2>
      <a:lt2>
        <a:srgbClr val="F7F8FC"/>
      </a:lt2>
      <a:accent1>
        <a:srgbClr val="276EF1"/>
      </a:accent1>
      <a:accent2>
        <a:srgbClr val="82DEFF"/>
      </a:accent2>
      <a:accent3>
        <a:srgbClr val="F4B860"/>
      </a:accent3>
      <a:accent4>
        <a:srgbClr val="1A3658"/>
      </a:accent4>
      <a:accent5>
        <a:srgbClr val="E8F0FE"/>
      </a:accent5>
      <a:accent6>
        <a:srgbClr val="B8C7DB"/>
      </a:accent6>
      <a:hlink>
        <a:srgbClr val="276EF1"/>
      </a:hlink>
      <a:folHlink>
        <a:srgbClr val="1A55C0"/>
      </a:folHlink>
    </a:clrScheme>
    <a:fontScheme name="Impulso Empresa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Impulso Empresarial | De los datos a las decisiones</dc:title>
  <dc:subject>Idea de negocio desarrollada en una tesis de Ingeniería Comercial</dc:subject>
  <dc:creator>Derlis Javier Morinigo Ovelar</dc:creator>
  <cp:lastModifiedBy>Derlis Javier Morinigo Ovelar</cp:lastModifiedBy>
  <cp:revision>1</cp:revision>
  <dcterms:created xsi:type="dcterms:W3CDTF">2026-10-06T17:22:44Z</dcterms:created>
  <dcterms:modified xsi:type="dcterms:W3CDTF">2026-10-06T17:22:44Z</dcterms:modified>
</cp:coreProperties>
</file>