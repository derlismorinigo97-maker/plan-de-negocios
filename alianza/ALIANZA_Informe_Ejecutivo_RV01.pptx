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311" r:id="rId2"/>
    <p:sldId id="404" r:id="rId3"/>
    <p:sldId id="405" r:id="rId4"/>
    <p:sldId id="432" r:id="rId5"/>
    <p:sldId id="439" r:id="rId6"/>
    <p:sldId id="434" r:id="rId7"/>
    <p:sldId id="435" r:id="rId8"/>
    <p:sldId id="436" r:id="rId9"/>
    <p:sldId id="39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526937E7-7A06-4AFC-ACB1-61483B0B2F4A}">
          <p14:sldIdLst>
            <p14:sldId id="311"/>
            <p14:sldId id="404"/>
            <p14:sldId id="405"/>
            <p14:sldId id="432"/>
            <p14:sldId id="439"/>
            <p14:sldId id="434"/>
            <p14:sldId id="435"/>
            <p14:sldId id="436"/>
            <p14:sldId id="3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0" autoAdjust="0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96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Flujo acumulado</c:v>
          </c:tx>
          <c:spPr>
            <a:ln w="28575">
              <a:solidFill>
                <a:srgbClr val="0D9488"/>
              </a:solidFill>
            </a:ln>
          </c:spPr>
          <c:marker>
            <c:symbol val="circle"/>
            <c:size val="4"/>
          </c:marker>
          <c:dPt>
            <c:idx val="8"/>
            <c:marker>
              <c:symbol val="circle"/>
              <c:size val="7"/>
              <c:spPr>
                <a:solidFill>
                  <a:srgbClr val="FF6F00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1ACB-43FC-9830-54EECAD739F6}"/>
              </c:ext>
            </c:extLst>
          </c:dPt>
          <c:dPt>
            <c:idx val="17"/>
            <c:marker>
              <c:symbol val="circle"/>
              <c:size val="7"/>
              <c:spPr>
                <a:solidFill>
                  <a:srgbClr val="FF6F00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1ACB-43FC-9830-54EECAD739F6}"/>
              </c:ext>
            </c:extLst>
          </c:dPt>
          <c:dPt>
            <c:idx val="24"/>
            <c:marker>
              <c:symbol val="circle"/>
              <c:size val="7"/>
              <c:spPr>
                <a:solidFill>
                  <a:srgbClr val="FF6F00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1ACB-43FC-9830-54EECAD739F6}"/>
              </c:ext>
            </c:extLst>
          </c:dPt>
          <c:cat>
            <c:strLit>
              <c:ptCount val="29"/>
              <c:pt idx="0">
                <c:v>nov-24</c:v>
              </c:pt>
              <c:pt idx="1">
                <c:v>dic-24</c:v>
              </c:pt>
              <c:pt idx="2">
                <c:v>ene-25</c:v>
              </c:pt>
              <c:pt idx="3">
                <c:v>feb-25</c:v>
              </c:pt>
              <c:pt idx="4">
                <c:v>mar-25</c:v>
              </c:pt>
              <c:pt idx="5">
                <c:v>abr-25</c:v>
              </c:pt>
              <c:pt idx="6">
                <c:v>may-25</c:v>
              </c:pt>
              <c:pt idx="7">
                <c:v>jun-25</c:v>
              </c:pt>
              <c:pt idx="8">
                <c:v>jul-25</c:v>
              </c:pt>
              <c:pt idx="9">
                <c:v>ago-25</c:v>
              </c:pt>
              <c:pt idx="10">
                <c:v>sep-25</c:v>
              </c:pt>
              <c:pt idx="11">
                <c:v>oct-25</c:v>
              </c:pt>
              <c:pt idx="12">
                <c:v>nov-25</c:v>
              </c:pt>
              <c:pt idx="13">
                <c:v>dic-25</c:v>
              </c:pt>
              <c:pt idx="14">
                <c:v>ene-26</c:v>
              </c:pt>
              <c:pt idx="15">
                <c:v>feb-26</c:v>
              </c:pt>
              <c:pt idx="16">
                <c:v>mar-26</c:v>
              </c:pt>
              <c:pt idx="17">
                <c:v>abr-26</c:v>
              </c:pt>
              <c:pt idx="18">
                <c:v>may-26</c:v>
              </c:pt>
              <c:pt idx="19">
                <c:v>jun-26</c:v>
              </c:pt>
              <c:pt idx="20">
                <c:v>jul-26</c:v>
              </c:pt>
              <c:pt idx="21">
                <c:v>ago-26</c:v>
              </c:pt>
              <c:pt idx="22">
                <c:v>sep-26</c:v>
              </c:pt>
              <c:pt idx="23">
                <c:v>oct-26</c:v>
              </c:pt>
              <c:pt idx="24">
                <c:v>nov-26</c:v>
              </c:pt>
              <c:pt idx="25">
                <c:v>dic-26</c:v>
              </c:pt>
              <c:pt idx="26">
                <c:v>ene-27</c:v>
              </c:pt>
              <c:pt idx="27">
                <c:v>feb-27</c:v>
              </c:pt>
              <c:pt idx="28">
                <c:v>mar-27</c:v>
              </c:pt>
            </c:strLit>
          </c:cat>
          <c:val>
            <c:numLit>
              <c:formatCode>#,##0.00</c:formatCode>
              <c:ptCount val="29"/>
              <c:pt idx="0">
                <c:v>-450.29</c:v>
              </c:pt>
              <c:pt idx="1">
                <c:v>-154772.28</c:v>
              </c:pt>
              <c:pt idx="2">
                <c:v>-156430.97</c:v>
              </c:pt>
              <c:pt idx="3">
                <c:v>-156430.97</c:v>
              </c:pt>
              <c:pt idx="4">
                <c:v>-156430.97</c:v>
              </c:pt>
              <c:pt idx="5">
                <c:v>-156430.97</c:v>
              </c:pt>
              <c:pt idx="6">
                <c:v>-251604.47</c:v>
              </c:pt>
              <c:pt idx="7">
                <c:v>-251604.47</c:v>
              </c:pt>
              <c:pt idx="8">
                <c:v>431605.57</c:v>
              </c:pt>
              <c:pt idx="9">
                <c:v>431605.57</c:v>
              </c:pt>
              <c:pt idx="10">
                <c:v>431605.57</c:v>
              </c:pt>
              <c:pt idx="11">
                <c:v>431605.57</c:v>
              </c:pt>
              <c:pt idx="12">
                <c:v>296520.26</c:v>
              </c:pt>
              <c:pt idx="13">
                <c:v>296520.26</c:v>
              </c:pt>
              <c:pt idx="14">
                <c:v>296520.26</c:v>
              </c:pt>
              <c:pt idx="15">
                <c:v>292339.34999999998</c:v>
              </c:pt>
              <c:pt idx="16">
                <c:v>291885.90999999997</c:v>
              </c:pt>
              <c:pt idx="17">
                <c:v>116551.19</c:v>
              </c:pt>
              <c:pt idx="18">
                <c:v>22866.16</c:v>
              </c:pt>
              <c:pt idx="19">
                <c:v>883.53</c:v>
              </c:pt>
              <c:pt idx="20">
                <c:v>-20720.46</c:v>
              </c:pt>
              <c:pt idx="21">
                <c:v>493872.28</c:v>
              </c:pt>
              <c:pt idx="22">
                <c:v>687904.05</c:v>
              </c:pt>
              <c:pt idx="23">
                <c:v>731896.34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1ACB-43FC-9830-54EECAD739F6}"/>
            </c:ext>
          </c:extLst>
        </c:ser>
        <c:ser>
          <c:idx val="1"/>
          <c:order val="1"/>
          <c:tx>
            <c:v>Saldo tras el cobro</c:v>
          </c:tx>
          <c:spPr>
            <a:ln w="28575">
              <a:solidFill>
                <a:srgbClr val="0D9488"/>
              </a:solidFill>
              <a:prstDash val="sysDash"/>
            </a:ln>
          </c:spPr>
          <c:marker>
            <c:symbol val="none"/>
          </c:marker>
          <c:cat>
            <c:strLit>
              <c:ptCount val="29"/>
              <c:pt idx="0">
                <c:v>nov-24</c:v>
              </c:pt>
              <c:pt idx="1">
                <c:v>dic-24</c:v>
              </c:pt>
              <c:pt idx="2">
                <c:v>ene-25</c:v>
              </c:pt>
              <c:pt idx="3">
                <c:v>feb-25</c:v>
              </c:pt>
              <c:pt idx="4">
                <c:v>mar-25</c:v>
              </c:pt>
              <c:pt idx="5">
                <c:v>abr-25</c:v>
              </c:pt>
              <c:pt idx="6">
                <c:v>may-25</c:v>
              </c:pt>
              <c:pt idx="7">
                <c:v>jun-25</c:v>
              </c:pt>
              <c:pt idx="8">
                <c:v>jul-25</c:v>
              </c:pt>
              <c:pt idx="9">
                <c:v>ago-25</c:v>
              </c:pt>
              <c:pt idx="10">
                <c:v>sep-25</c:v>
              </c:pt>
              <c:pt idx="11">
                <c:v>oct-25</c:v>
              </c:pt>
              <c:pt idx="12">
                <c:v>nov-25</c:v>
              </c:pt>
              <c:pt idx="13">
                <c:v>dic-25</c:v>
              </c:pt>
              <c:pt idx="14">
                <c:v>ene-26</c:v>
              </c:pt>
              <c:pt idx="15">
                <c:v>feb-26</c:v>
              </c:pt>
              <c:pt idx="16">
                <c:v>mar-26</c:v>
              </c:pt>
              <c:pt idx="17">
                <c:v>abr-26</c:v>
              </c:pt>
              <c:pt idx="18">
                <c:v>may-26</c:v>
              </c:pt>
              <c:pt idx="19">
                <c:v>jun-26</c:v>
              </c:pt>
              <c:pt idx="20">
                <c:v>jul-26</c:v>
              </c:pt>
              <c:pt idx="21">
                <c:v>ago-26</c:v>
              </c:pt>
              <c:pt idx="22">
                <c:v>sep-26</c:v>
              </c:pt>
              <c:pt idx="23">
                <c:v>oct-26</c:v>
              </c:pt>
              <c:pt idx="24">
                <c:v>nov-26</c:v>
              </c:pt>
              <c:pt idx="25">
                <c:v>dic-26</c:v>
              </c:pt>
              <c:pt idx="26">
                <c:v>ene-27</c:v>
              </c:pt>
              <c:pt idx="27">
                <c:v>feb-27</c:v>
              </c:pt>
              <c:pt idx="28">
                <c:v>mar-27</c:v>
              </c:pt>
            </c:strLit>
          </c:cat>
          <c:val>
            <c:numLit>
              <c:formatCode>General</c:formatCode>
              <c:ptCount val="29"/>
              <c:pt idx="23" formatCode="#,##0.00">
                <c:v>731896.34</c:v>
              </c:pt>
              <c:pt idx="24" formatCode="#,##0.00">
                <c:v>-22746.15</c:v>
              </c:pt>
              <c:pt idx="25" formatCode="#,##0.00">
                <c:v>-3140.73</c:v>
              </c:pt>
              <c:pt idx="26" formatCode="#,##0.00">
                <c:v>19511.3</c:v>
              </c:pt>
              <c:pt idx="27" formatCode="#,##0.00">
                <c:v>19511.3</c:v>
              </c:pt>
              <c:pt idx="28" formatCode="#,##0.00">
                <c:v>19511.3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4-1ACB-43FC-9830-54EECAD739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0"/>
        <c:axId val="200"/>
      </c:lineChart>
      <c:catAx>
        <c:axId val="10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txPr>
          <a:bodyPr rot="0" vert="horz"/>
          <a:lstStyle/>
          <a:p>
            <a:pPr>
              <a:defRPr sz="800">
                <a:solidFill>
                  <a:srgbClr val="37474F"/>
                </a:solidFill>
                <a:latin typeface="Calibri"/>
              </a:defRPr>
            </a:pPr>
            <a:endParaRPr lang="es-PY"/>
          </a:p>
        </c:txPr>
        <c:crossAx val="200"/>
        <c:crosses val="autoZero"/>
        <c:auto val="1"/>
        <c:lblAlgn val="ctr"/>
        <c:lblOffset val="100"/>
        <c:tickLblSkip val="3"/>
        <c:tickMarkSkip val="1"/>
        <c:noMultiLvlLbl val="1"/>
      </c:catAx>
      <c:valAx>
        <c:axId val="200"/>
        <c:scaling>
          <c:orientation val="minMax"/>
          <c:max val="1000000"/>
          <c:min val="-500000"/>
        </c:scaling>
        <c:delete val="0"/>
        <c:axPos val="l"/>
        <c:majorGridlines>
          <c:spPr>
            <a:ln w="6350">
              <a:solidFill>
                <a:srgbClr val="DCE3E8"/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900" b="0">
                    <a:solidFill>
                      <a:srgbClr val="37474F"/>
                    </a:solidFill>
                    <a:latin typeface="Calibri"/>
                  </a:defRPr>
                </a:pPr>
                <a:r>
                  <a:rPr lang="es-PY" sz="900"/>
                  <a:t>Flujo acumulado · USD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37474F"/>
                </a:solidFill>
                <a:latin typeface="Calibri"/>
              </a:defRPr>
            </a:pPr>
            <a:endParaRPr lang="es-PY"/>
          </a:p>
        </c:txPr>
        <c:crossAx val="100"/>
        <c:crosses val="autoZero"/>
        <c:crossBetween val="between"/>
        <c:majorUnit val="25000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37474F"/>
          </a:solidFill>
          <a:latin typeface="Calibri"/>
        </a:defRPr>
      </a:pPr>
      <a:endParaRPr lang="es-PY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TC BCP del mes</c:v>
          </c:tx>
          <c:spPr>
            <a:ln w="28575">
              <a:solidFill>
                <a:srgbClr val="0D9488"/>
              </a:solidFill>
            </a:ln>
          </c:spPr>
          <c:marker>
            <c:symbol val="circle"/>
            <c:size val="4"/>
          </c:marker>
          <c:dPt>
            <c:idx val="0"/>
            <c:marker>
              <c:symbol val="circle"/>
              <c:size val="7"/>
              <c:spPr>
                <a:solidFill>
                  <a:srgbClr val="C46313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9F78-41B0-8F37-36A89C7C2CF7}"/>
              </c:ext>
            </c:extLst>
          </c:dPt>
          <c:dPt>
            <c:idx val="22"/>
            <c:marker>
              <c:symbol val="circle"/>
              <c:size val="7"/>
              <c:spPr>
                <a:solidFill>
                  <a:srgbClr val="C46313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9F78-41B0-8F37-36A89C7C2CF7}"/>
              </c:ext>
            </c:extLst>
          </c:dPt>
          <c:cat>
            <c:strLit>
              <c:ptCount val="24"/>
              <c:pt idx="0">
                <c:v>nov-24</c:v>
              </c:pt>
              <c:pt idx="1">
                <c:v>dic-24</c:v>
              </c:pt>
              <c:pt idx="2">
                <c:v>ene-25</c:v>
              </c:pt>
              <c:pt idx="3">
                <c:v>feb-25</c:v>
              </c:pt>
              <c:pt idx="4">
                <c:v>mar-25</c:v>
              </c:pt>
              <c:pt idx="5">
                <c:v>abr-25</c:v>
              </c:pt>
              <c:pt idx="6">
                <c:v>may-25</c:v>
              </c:pt>
              <c:pt idx="7">
                <c:v>jun-25</c:v>
              </c:pt>
              <c:pt idx="8">
                <c:v>jul-25</c:v>
              </c:pt>
              <c:pt idx="9">
                <c:v>ago-25</c:v>
              </c:pt>
              <c:pt idx="10">
                <c:v>sep-25</c:v>
              </c:pt>
              <c:pt idx="11">
                <c:v>oct-25</c:v>
              </c:pt>
              <c:pt idx="12">
                <c:v>nov-25</c:v>
              </c:pt>
              <c:pt idx="13">
                <c:v>dic-25</c:v>
              </c:pt>
              <c:pt idx="14">
                <c:v>ene-26</c:v>
              </c:pt>
              <c:pt idx="15">
                <c:v>feb-26</c:v>
              </c:pt>
              <c:pt idx="16">
                <c:v>mar-26</c:v>
              </c:pt>
              <c:pt idx="17">
                <c:v>abr-26</c:v>
              </c:pt>
              <c:pt idx="18">
                <c:v>may-26</c:v>
              </c:pt>
              <c:pt idx="19">
                <c:v>jun-26</c:v>
              </c:pt>
              <c:pt idx="20">
                <c:v>jul-26</c:v>
              </c:pt>
              <c:pt idx="21">
                <c:v>ago-26</c:v>
              </c:pt>
              <c:pt idx="22">
                <c:v>sep-26</c:v>
              </c:pt>
              <c:pt idx="23">
                <c:v>oct-26</c:v>
              </c:pt>
            </c:strLit>
          </c:cat>
          <c:val>
            <c:numLit>
              <c:formatCode>#,##0</c:formatCode>
              <c:ptCount val="24"/>
              <c:pt idx="0">
                <c:v>7798.04</c:v>
              </c:pt>
              <c:pt idx="1">
                <c:v>7831.26</c:v>
              </c:pt>
              <c:pt idx="2">
                <c:v>7877.48</c:v>
              </c:pt>
              <c:pt idx="3">
                <c:v>7923.42</c:v>
              </c:pt>
              <c:pt idx="4">
                <c:v>7994.25</c:v>
              </c:pt>
              <c:pt idx="5">
                <c:v>8006.85</c:v>
              </c:pt>
              <c:pt idx="6">
                <c:v>7959.39</c:v>
              </c:pt>
              <c:pt idx="7">
                <c:v>7784.15</c:v>
              </c:pt>
              <c:pt idx="8">
                <c:v>7430.78</c:v>
              </c:pt>
              <c:pt idx="9">
                <c:v>7327.49</c:v>
              </c:pt>
              <c:pt idx="10">
                <c:v>7002.41</c:v>
              </c:pt>
              <c:pt idx="11">
                <c:v>7104.85</c:v>
              </c:pt>
              <c:pt idx="12">
                <c:v>6982.22</c:v>
              </c:pt>
              <c:pt idx="13">
                <c:v>6575.71</c:v>
              </c:pt>
              <c:pt idx="14">
                <c:v>6658.19</c:v>
              </c:pt>
              <c:pt idx="15">
                <c:v>6459.98</c:v>
              </c:pt>
              <c:pt idx="16">
                <c:v>6503.49</c:v>
              </c:pt>
              <c:pt idx="17">
                <c:v>5977.06</c:v>
              </c:pt>
              <c:pt idx="18">
                <c:v>6020.72</c:v>
              </c:pt>
              <c:pt idx="19">
                <c:v>6081.67</c:v>
              </c:pt>
              <c:pt idx="20">
                <c:v>5965.93</c:v>
              </c:pt>
              <c:pt idx="21">
                <c:v>5903.31</c:v>
              </c:pt>
              <c:pt idx="22">
                <c:v>5833.63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9F78-41B0-8F37-36A89C7C2CF7}"/>
            </c:ext>
          </c:extLst>
        </c:ser>
        <c:ser>
          <c:idx val="1"/>
          <c:order val="1"/>
          <c:tx>
            <c:v>Estimado</c:v>
          </c:tx>
          <c:spPr>
            <a:ln w="28575">
              <a:solidFill>
                <a:srgbClr val="0D9488"/>
              </a:solidFill>
              <a:prstDash val="sysDash"/>
            </a:ln>
          </c:spPr>
          <c:marker>
            <c:symbol val="none"/>
          </c:marker>
          <c:dPt>
            <c:idx val="23"/>
            <c:marker>
              <c:symbol val="circle"/>
              <c:size val="7"/>
              <c:spPr>
                <a:solidFill>
                  <a:srgbClr val="C46313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9F78-41B0-8F37-36A89C7C2CF7}"/>
              </c:ext>
            </c:extLst>
          </c:dPt>
          <c:cat>
            <c:strLit>
              <c:ptCount val="24"/>
              <c:pt idx="0">
                <c:v>nov-24</c:v>
              </c:pt>
              <c:pt idx="1">
                <c:v>dic-24</c:v>
              </c:pt>
              <c:pt idx="2">
                <c:v>ene-25</c:v>
              </c:pt>
              <c:pt idx="3">
                <c:v>feb-25</c:v>
              </c:pt>
              <c:pt idx="4">
                <c:v>mar-25</c:v>
              </c:pt>
              <c:pt idx="5">
                <c:v>abr-25</c:v>
              </c:pt>
              <c:pt idx="6">
                <c:v>may-25</c:v>
              </c:pt>
              <c:pt idx="7">
                <c:v>jun-25</c:v>
              </c:pt>
              <c:pt idx="8">
                <c:v>jul-25</c:v>
              </c:pt>
              <c:pt idx="9">
                <c:v>ago-25</c:v>
              </c:pt>
              <c:pt idx="10">
                <c:v>sep-25</c:v>
              </c:pt>
              <c:pt idx="11">
                <c:v>oct-25</c:v>
              </c:pt>
              <c:pt idx="12">
                <c:v>nov-25</c:v>
              </c:pt>
              <c:pt idx="13">
                <c:v>dic-25</c:v>
              </c:pt>
              <c:pt idx="14">
                <c:v>ene-26</c:v>
              </c:pt>
              <c:pt idx="15">
                <c:v>feb-26</c:v>
              </c:pt>
              <c:pt idx="16">
                <c:v>mar-26</c:v>
              </c:pt>
              <c:pt idx="17">
                <c:v>abr-26</c:v>
              </c:pt>
              <c:pt idx="18">
                <c:v>may-26</c:v>
              </c:pt>
              <c:pt idx="19">
                <c:v>jun-26</c:v>
              </c:pt>
              <c:pt idx="20">
                <c:v>jul-26</c:v>
              </c:pt>
              <c:pt idx="21">
                <c:v>ago-26</c:v>
              </c:pt>
              <c:pt idx="22">
                <c:v>sep-26</c:v>
              </c:pt>
              <c:pt idx="23">
                <c:v>oct-26</c:v>
              </c:pt>
            </c:strLit>
          </c:cat>
          <c:val>
            <c:numLit>
              <c:formatCode>General</c:formatCode>
              <c:ptCount val="24"/>
              <c:pt idx="22" formatCode="#,##0">
                <c:v>5833.63</c:v>
              </c:pt>
              <c:pt idx="23" formatCode="#,##0">
                <c:v>5850.69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4-9F78-41B0-8F37-36A89C7C2C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0"/>
        <c:axId val="200"/>
      </c:lineChart>
      <c:catAx>
        <c:axId val="10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txPr>
          <a:bodyPr rot="0" vert="horz"/>
          <a:lstStyle/>
          <a:p>
            <a:pPr>
              <a:defRPr sz="800">
                <a:solidFill>
                  <a:srgbClr val="37474F"/>
                </a:solidFill>
                <a:latin typeface="Calibri"/>
              </a:defRPr>
            </a:pPr>
            <a:endParaRPr lang="es-PY"/>
          </a:p>
        </c:txPr>
        <c:crossAx val="200"/>
        <c:crosses val="autoZero"/>
        <c:auto val="1"/>
        <c:lblAlgn val="ctr"/>
        <c:lblOffset val="100"/>
        <c:tickLblSkip val="3"/>
        <c:tickMarkSkip val="1"/>
        <c:noMultiLvlLbl val="1"/>
      </c:catAx>
      <c:valAx>
        <c:axId val="200"/>
        <c:scaling>
          <c:orientation val="minMax"/>
          <c:max val="8500"/>
          <c:min val="5500"/>
        </c:scaling>
        <c:delete val="0"/>
        <c:axPos val="l"/>
        <c:majorGridlines>
          <c:spPr>
            <a:ln w="6350">
              <a:solidFill>
                <a:srgbClr val="DCE3E8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37474F"/>
                </a:solidFill>
                <a:latin typeface="Calibri"/>
              </a:defRPr>
            </a:pPr>
            <a:endParaRPr lang="es-PY"/>
          </a:p>
        </c:txPr>
        <c:crossAx val="100"/>
        <c:crosses val="autoZero"/>
        <c:crossBetween val="between"/>
        <c:majorUnit val="50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37474F"/>
          </a:solidFill>
          <a:latin typeface="Calibri"/>
        </a:defRPr>
      </a:pPr>
      <a:endParaRPr lang="es-PY"/>
    </a:p>
  </c:tx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9142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Y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INICIO DE COMPRAS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4DE21-5733-507F-0C2E-8D95701DF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DC479B-DDF4-9DF3-E6BB-84C3E27A97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4B0537-6674-9BFF-F989-79B5B9777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0DB52-670D-7DAC-B52F-227D36B59E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11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 </a:t>
            </a:r>
            <a:r>
              <a:rPr lang="en-US" dirty="0" err="1"/>
              <a:t>gastos</a:t>
            </a:r>
            <a:r>
              <a:rPr lang="en-US" dirty="0"/>
              <a:t> de </a:t>
            </a:r>
            <a:r>
              <a:rPr lang="en-US" dirty="0" err="1"/>
              <a:t>despacho</a:t>
            </a:r>
            <a:r>
              <a:rPr lang="en-US" dirty="0"/>
              <a:t> y </a:t>
            </a:r>
            <a:r>
              <a:rPr lang="en-US" dirty="0" err="1"/>
              <a:t>flete</a:t>
            </a:r>
            <a:r>
              <a:rPr lang="en-US" dirty="0"/>
              <a:t> de la </a:t>
            </a:r>
            <a:r>
              <a:rPr lang="en-US" dirty="0" err="1"/>
              <a:t>perfiladora</a:t>
            </a:r>
            <a:r>
              <a:rPr lang="en-US" dirty="0"/>
              <a:t> (*)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PY" dirty="0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PY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" cy="2286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PY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4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ALIANZA DEL ACERO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7239000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s-PY" sz="2000" dirty="0">
                <a:solidFill>
                  <a:srgbClr val="B7C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Operativa</a:t>
            </a:r>
          </a:p>
          <a:p>
            <a:pPr>
              <a:buNone/>
            </a:pPr>
            <a:r>
              <a:rPr lang="es-PY" sz="2000" dirty="0">
                <a:solidFill>
                  <a:srgbClr val="B7C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Arreglo de cuentas con CIE S.A.</a:t>
            </a:r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2743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PY" dirty="0"/>
          </a:p>
        </p:txBody>
      </p:sp>
      <p:sp>
        <p:nvSpPr>
          <p:cNvPr id="9" name="Text 7"/>
          <p:cNvSpPr/>
          <p:nvPr/>
        </p:nvSpPr>
        <p:spPr>
          <a:xfrm>
            <a:off x="822960" y="3416300"/>
            <a:ext cx="457200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s-PY" sz="1100" dirty="0">
                <a:solidFill>
                  <a:srgbClr val="90A4AE"/>
                </a:solidFill>
                <a:latin typeface="Calibri"/>
              </a:rPr>
              <a:t>Cierre: 30/09/2026  |  Horizonte: 31/10/2026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B085023-B01C-4923-AFBB-B15D9D081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28" y="3500938"/>
            <a:ext cx="2154674" cy="109837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176782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PY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27000"/>
            <a:ext cx="6654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2000" b="1">
                <a:solidFill>
                  <a:srgbClr val="FFFFFF"/>
                </a:solidFill>
                <a:latin typeface="Georgia"/>
              </a:rPr>
              <a:t>DE LA IMPLANTACIÓN A LA AUTONOMÍA</a:t>
            </a:r>
          </a:p>
        </p:txBody>
      </p:sp>
      <p:sp>
        <p:nvSpPr>
          <p:cNvPr id="6" name="Text 2"/>
          <p:cNvSpPr/>
          <p:nvPr/>
        </p:nvSpPr>
        <p:spPr>
          <a:xfrm>
            <a:off x="457200" y="927100"/>
            <a:ext cx="8229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200" b="1">
                <a:solidFill>
                  <a:srgbClr val="37474F"/>
                </a:solidFill>
                <a:latin typeface="Calibri"/>
              </a:rPr>
              <a:t>1 año y 5 meses de recorrido previsto  |  Jun/2025–31/10/2026</a:t>
            </a:r>
          </a:p>
        </p:txBody>
      </p:sp>
      <p:cxnSp>
        <p:nvCxnSpPr>
          <p:cNvPr id="200" name="Etapa implantación"/>
          <p:cNvCxnSpPr/>
          <p:nvPr/>
        </p:nvCxnSpPr>
        <p:spPr>
          <a:xfrm>
            <a:off x="965200" y="2159000"/>
            <a:ext cx="1270000" cy="0"/>
          </a:xfrm>
          <a:prstGeom prst="line">
            <a:avLst/>
          </a:prstGeom>
          <a:ln w="27940">
            <a:solidFill>
              <a:srgbClr val="0D9488"/>
            </a:solidFill>
            <a:prstDash val="solid"/>
            <a:headEnd type="none"/>
            <a:tailEnd type="none"/>
          </a:ln>
        </p:spPr>
      </p:cxnSp>
      <p:cxnSp>
        <p:nvCxnSpPr>
          <p:cNvPr id="201" name="Intervalo hasta inauguración"/>
          <p:cNvCxnSpPr/>
          <p:nvPr/>
        </p:nvCxnSpPr>
        <p:spPr>
          <a:xfrm>
            <a:off x="2336800" y="2159000"/>
            <a:ext cx="1371600" cy="0"/>
          </a:xfrm>
          <a:prstGeom prst="line">
            <a:avLst/>
          </a:prstGeom>
          <a:ln w="21590">
            <a:solidFill>
              <a:srgbClr val="8DA3B2"/>
            </a:solidFill>
            <a:prstDash val="solid"/>
            <a:headEnd type="none"/>
            <a:tailEnd type="none"/>
          </a:ln>
        </p:spPr>
      </p:cxnSp>
      <p:cxnSp>
        <p:nvCxnSpPr>
          <p:cNvPr id="202" name="Intervalo hasta producción"/>
          <p:cNvCxnSpPr>
            <a:cxnSpLocks/>
            <a:stCxn id="210" idx="6"/>
          </p:cNvCxnSpPr>
          <p:nvPr/>
        </p:nvCxnSpPr>
        <p:spPr>
          <a:xfrm>
            <a:off x="3763506" y="2159000"/>
            <a:ext cx="1341894" cy="0"/>
          </a:xfrm>
          <a:prstGeom prst="line">
            <a:avLst/>
          </a:prstGeom>
          <a:ln w="21590">
            <a:solidFill>
              <a:srgbClr val="8DA3B2"/>
            </a:solidFill>
            <a:prstDash val="solid"/>
            <a:headEnd type="none"/>
            <a:tailEnd type="none"/>
          </a:ln>
        </p:spPr>
      </p:cxnSp>
      <p:cxnSp>
        <p:nvCxnSpPr>
          <p:cNvPr id="203" name="Trayecto hasta autonomía estimada"/>
          <p:cNvCxnSpPr>
            <a:cxnSpLocks/>
            <a:stCxn id="213" idx="6"/>
          </p:cNvCxnSpPr>
          <p:nvPr/>
        </p:nvCxnSpPr>
        <p:spPr>
          <a:xfrm>
            <a:off x="5121761" y="2159000"/>
            <a:ext cx="3057039" cy="0"/>
          </a:xfrm>
          <a:prstGeom prst="line">
            <a:avLst/>
          </a:prstGeom>
          <a:ln w="27940">
            <a:solidFill>
              <a:srgbClr val="E87919"/>
            </a:solidFill>
            <a:prstDash val="dash"/>
            <a:headEnd type="none"/>
            <a:tailEnd type="none"/>
          </a:ln>
        </p:spPr>
      </p:cxnSp>
      <p:sp>
        <p:nvSpPr>
          <p:cNvPr id="204" name="Hito 18/08/2025"/>
          <p:cNvSpPr/>
          <p:nvPr/>
        </p:nvSpPr>
        <p:spPr>
          <a:xfrm>
            <a:off x="869950" y="2114550"/>
            <a:ext cx="88900" cy="889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s-PY"/>
          </a:p>
        </p:txBody>
      </p:sp>
      <p:sp>
        <p:nvSpPr>
          <p:cNvPr id="205" name="Fecha 18/08/2025"/>
          <p:cNvSpPr/>
          <p:nvPr/>
        </p:nvSpPr>
        <p:spPr>
          <a:xfrm>
            <a:off x="228600" y="14859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200" b="1">
                <a:solidFill>
                  <a:srgbClr val="0A1628"/>
                </a:solidFill>
                <a:latin typeface="Calibri"/>
              </a:rPr>
              <a:t>Jun/2025</a:t>
            </a:r>
          </a:p>
        </p:txBody>
      </p:sp>
      <p:sp>
        <p:nvSpPr>
          <p:cNvPr id="206" name="Hito Inicio de implantación"/>
          <p:cNvSpPr/>
          <p:nvPr/>
        </p:nvSpPr>
        <p:spPr>
          <a:xfrm>
            <a:off x="203200" y="2400300"/>
            <a:ext cx="1422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200" b="0">
                <a:solidFill>
                  <a:srgbClr val="37474F"/>
                </a:solidFill>
                <a:latin typeface="Calibri"/>
              </a:rPr>
              <a:t>Inicio de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200" b="0">
                <a:solidFill>
                  <a:srgbClr val="37474F"/>
                </a:solidFill>
                <a:latin typeface="Calibri"/>
              </a:rPr>
              <a:t>implantación</a:t>
            </a:r>
          </a:p>
        </p:txBody>
      </p:sp>
      <p:sp>
        <p:nvSpPr>
          <p:cNvPr id="207" name="Hito 24/04/2026"/>
          <p:cNvSpPr/>
          <p:nvPr/>
        </p:nvSpPr>
        <p:spPr>
          <a:xfrm>
            <a:off x="2247900" y="2114550"/>
            <a:ext cx="88900" cy="889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s-PY"/>
          </a:p>
        </p:txBody>
      </p:sp>
      <p:sp>
        <p:nvSpPr>
          <p:cNvPr id="208" name="Fecha 24/04/2026"/>
          <p:cNvSpPr/>
          <p:nvPr/>
        </p:nvSpPr>
        <p:spPr>
          <a:xfrm>
            <a:off x="1600200" y="14859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200" b="1">
                <a:solidFill>
                  <a:srgbClr val="0A1628"/>
                </a:solidFill>
                <a:latin typeface="Calibri"/>
              </a:rPr>
              <a:t>Nov/2025</a:t>
            </a:r>
          </a:p>
        </p:txBody>
      </p:sp>
      <p:sp>
        <p:nvSpPr>
          <p:cNvPr id="209" name="Hito Fin de implantación"/>
          <p:cNvSpPr/>
          <p:nvPr/>
        </p:nvSpPr>
        <p:spPr>
          <a:xfrm>
            <a:off x="1574800" y="2400300"/>
            <a:ext cx="1422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200" b="0">
                <a:solidFill>
                  <a:srgbClr val="37474F"/>
                </a:solidFill>
                <a:latin typeface="Calibri"/>
              </a:rPr>
              <a:t>Fin de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200" b="0">
                <a:solidFill>
                  <a:srgbClr val="37474F"/>
                </a:solidFill>
                <a:latin typeface="Calibri"/>
              </a:rPr>
              <a:t>implantación</a:t>
            </a:r>
          </a:p>
        </p:txBody>
      </p:sp>
      <p:sp>
        <p:nvSpPr>
          <p:cNvPr id="210" name="Hito 27/04/2026"/>
          <p:cNvSpPr/>
          <p:nvPr/>
        </p:nvSpPr>
        <p:spPr>
          <a:xfrm>
            <a:off x="3674606" y="2114550"/>
            <a:ext cx="88900" cy="889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s-PY"/>
          </a:p>
        </p:txBody>
      </p:sp>
      <p:sp>
        <p:nvSpPr>
          <p:cNvPr id="211" name="Fecha 27/04/2026"/>
          <p:cNvSpPr/>
          <p:nvPr/>
        </p:nvSpPr>
        <p:spPr>
          <a:xfrm>
            <a:off x="3073400" y="14859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200" b="1">
                <a:solidFill>
                  <a:srgbClr val="0A1628"/>
                </a:solidFill>
                <a:latin typeface="Calibri"/>
              </a:rPr>
              <a:t>Dic/2025</a:t>
            </a:r>
          </a:p>
        </p:txBody>
      </p:sp>
      <p:sp>
        <p:nvSpPr>
          <p:cNvPr id="212" name="Hito Inauguración"/>
          <p:cNvSpPr/>
          <p:nvPr/>
        </p:nvSpPr>
        <p:spPr>
          <a:xfrm>
            <a:off x="2993757" y="2400300"/>
            <a:ext cx="1422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200" b="0" dirty="0">
                <a:solidFill>
                  <a:srgbClr val="37474F"/>
                </a:solidFill>
                <a:latin typeface="Calibri"/>
              </a:rPr>
              <a:t>Inauguración</a:t>
            </a:r>
          </a:p>
        </p:txBody>
      </p:sp>
      <p:sp>
        <p:nvSpPr>
          <p:cNvPr id="213" name="Hito 28/04/2026"/>
          <p:cNvSpPr/>
          <p:nvPr/>
        </p:nvSpPr>
        <p:spPr>
          <a:xfrm>
            <a:off x="5032861" y="2114550"/>
            <a:ext cx="88900" cy="889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s-PY"/>
          </a:p>
        </p:txBody>
      </p:sp>
      <p:sp>
        <p:nvSpPr>
          <p:cNvPr id="214" name="Fecha 28/04/2026"/>
          <p:cNvSpPr/>
          <p:nvPr/>
        </p:nvSpPr>
        <p:spPr>
          <a:xfrm>
            <a:off x="4346416" y="14859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200" b="1" dirty="0">
                <a:solidFill>
                  <a:srgbClr val="0A1628"/>
                </a:solidFill>
                <a:latin typeface="Calibri"/>
              </a:rPr>
              <a:t>Ene/2026</a:t>
            </a:r>
          </a:p>
        </p:txBody>
      </p:sp>
      <p:sp>
        <p:nvSpPr>
          <p:cNvPr id="215" name="Hito Inicio de producción"/>
          <p:cNvSpPr/>
          <p:nvPr/>
        </p:nvSpPr>
        <p:spPr>
          <a:xfrm>
            <a:off x="4445000" y="2400300"/>
            <a:ext cx="1422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200" b="0">
                <a:solidFill>
                  <a:srgbClr val="37474F"/>
                </a:solidFill>
                <a:latin typeface="Calibri"/>
              </a:rPr>
              <a:t>Inicio de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200" b="0">
                <a:solidFill>
                  <a:srgbClr val="37474F"/>
                </a:solidFill>
                <a:latin typeface="Calibri"/>
              </a:rPr>
              <a:t>producción</a:t>
            </a:r>
          </a:p>
        </p:txBody>
      </p:sp>
      <p:sp>
        <p:nvSpPr>
          <p:cNvPr id="216" name="Hito 30/10/2026*"/>
          <p:cNvSpPr/>
          <p:nvPr/>
        </p:nvSpPr>
        <p:spPr>
          <a:xfrm>
            <a:off x="8185150" y="2114550"/>
            <a:ext cx="88900" cy="88900"/>
          </a:xfrm>
          <a:prstGeom prst="ellipse">
            <a:avLst/>
          </a:prstGeom>
          <a:solidFill>
            <a:srgbClr val="E87919"/>
          </a:solidFill>
          <a:ln>
            <a:noFill/>
          </a:ln>
        </p:spPr>
        <p:txBody>
          <a:bodyPr/>
          <a:lstStyle/>
          <a:p>
            <a:endParaRPr lang="es-PY"/>
          </a:p>
        </p:txBody>
      </p:sp>
      <p:sp>
        <p:nvSpPr>
          <p:cNvPr id="217" name="Fecha 30/10/2026*"/>
          <p:cNvSpPr/>
          <p:nvPr/>
        </p:nvSpPr>
        <p:spPr>
          <a:xfrm>
            <a:off x="7543800" y="14859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200" b="1">
                <a:solidFill>
                  <a:srgbClr val="37474F"/>
                </a:solidFill>
                <a:latin typeface="Calibri"/>
              </a:rPr>
              <a:t>31/10/2026*</a:t>
            </a:r>
          </a:p>
        </p:txBody>
      </p:sp>
      <p:sp>
        <p:nvSpPr>
          <p:cNvPr id="218" name="Hito Autonomía estimada*"/>
          <p:cNvSpPr/>
          <p:nvPr/>
        </p:nvSpPr>
        <p:spPr>
          <a:xfrm>
            <a:off x="7518400" y="2400300"/>
            <a:ext cx="1422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200" b="1">
                <a:solidFill>
                  <a:srgbClr val="C46313"/>
                </a:solidFill>
                <a:latin typeface="Calibri"/>
              </a:rPr>
              <a:t>Autonomía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200" b="1">
                <a:solidFill>
                  <a:srgbClr val="C46313"/>
                </a:solidFill>
                <a:latin typeface="Calibri"/>
              </a:rPr>
              <a:t>estimada*</a:t>
            </a:r>
          </a:p>
        </p:txBody>
      </p:sp>
      <p:sp>
        <p:nvSpPr>
          <p:cNvPr id="219" name="Duración implantación"/>
          <p:cNvSpPr/>
          <p:nvPr/>
        </p:nvSpPr>
        <p:spPr>
          <a:xfrm>
            <a:off x="800100" y="1816100"/>
            <a:ext cx="1574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100" b="1">
                <a:solidFill>
                  <a:srgbClr val="0D9488"/>
                </a:solidFill>
                <a:latin typeface="Calibri"/>
              </a:rPr>
              <a:t>5 meses</a:t>
            </a:r>
          </a:p>
        </p:txBody>
      </p:sp>
      <p:sp>
        <p:nvSpPr>
          <p:cNvPr id="220" name="Duración hasta inauguración"/>
          <p:cNvSpPr/>
          <p:nvPr/>
        </p:nvSpPr>
        <p:spPr>
          <a:xfrm>
            <a:off x="2552700" y="1816100"/>
            <a:ext cx="952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100" b="0">
                <a:solidFill>
                  <a:srgbClr val="607D8B"/>
                </a:solidFill>
                <a:latin typeface="Calibri"/>
              </a:rPr>
              <a:t>1 mes</a:t>
            </a:r>
          </a:p>
        </p:txBody>
      </p:sp>
      <p:sp>
        <p:nvSpPr>
          <p:cNvPr id="221" name="Duración hasta producción"/>
          <p:cNvSpPr/>
          <p:nvPr/>
        </p:nvSpPr>
        <p:spPr>
          <a:xfrm>
            <a:off x="3987800" y="1816100"/>
            <a:ext cx="927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100" b="0">
                <a:solidFill>
                  <a:srgbClr val="607D8B"/>
                </a:solidFill>
                <a:latin typeface="Calibri"/>
              </a:rPr>
              <a:t>1 mes</a:t>
            </a:r>
          </a:p>
        </p:txBody>
      </p:sp>
      <p:sp>
        <p:nvSpPr>
          <p:cNvPr id="222" name="Duración producción hasta autonomía"/>
          <p:cNvSpPr/>
          <p:nvPr/>
        </p:nvSpPr>
        <p:spPr>
          <a:xfrm>
            <a:off x="5676900" y="1816100"/>
            <a:ext cx="203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100" b="1" dirty="0">
                <a:solidFill>
                  <a:srgbClr val="37474F"/>
                </a:solidFill>
                <a:latin typeface="Calibri"/>
              </a:rPr>
              <a:t>10 meses*</a:t>
            </a:r>
          </a:p>
        </p:txBody>
      </p:sp>
      <p:cxnSp>
        <p:nvCxnSpPr>
          <p:cNvPr id="223" name="Separador de avance"/>
          <p:cNvCxnSpPr/>
          <p:nvPr/>
        </p:nvCxnSpPr>
        <p:spPr>
          <a:xfrm>
            <a:off x="457200" y="3340100"/>
            <a:ext cx="8229600" cy="0"/>
          </a:xfrm>
          <a:prstGeom prst="line">
            <a:avLst/>
          </a:prstGeom>
          <a:ln w="8890">
            <a:solidFill>
              <a:srgbClr val="CFD8DC"/>
            </a:solidFill>
            <a:prstDash val="solid"/>
            <a:headEnd type="none"/>
            <a:tailEnd type="none"/>
          </a:ln>
        </p:spPr>
      </p:cxnSp>
      <p:sp>
        <p:nvSpPr>
          <p:cNvPr id="224" name="Fecha de referencia"/>
          <p:cNvSpPr/>
          <p:nvPr/>
        </p:nvSpPr>
        <p:spPr>
          <a:xfrm>
            <a:off x="457200" y="3517900"/>
            <a:ext cx="82296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200" b="1" dirty="0">
                <a:solidFill>
                  <a:srgbClr val="0A1628"/>
                </a:solidFill>
                <a:latin typeface="Calibri"/>
              </a:rPr>
              <a:t>AVANCE AL 30/09/2026</a:t>
            </a:r>
          </a:p>
        </p:txBody>
      </p:sp>
      <p:sp>
        <p:nvSpPr>
          <p:cNvPr id="225" name="TOTAL TRANSCURRIDO"/>
          <p:cNvSpPr/>
          <p:nvPr/>
        </p:nvSpPr>
        <p:spPr>
          <a:xfrm>
            <a:off x="457200" y="3810000"/>
            <a:ext cx="269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000" b="1">
                <a:solidFill>
                  <a:srgbClr val="0A1628"/>
                </a:solidFill>
                <a:latin typeface="Calibri"/>
              </a:rPr>
              <a:t>TOTAL TRANSCURRIDO</a:t>
            </a:r>
          </a:p>
        </p:txBody>
      </p:sp>
      <p:sp>
        <p:nvSpPr>
          <p:cNvPr id="226" name="Duración TOTAL TRANSCURRIDO"/>
          <p:cNvSpPr/>
          <p:nvPr/>
        </p:nvSpPr>
        <p:spPr>
          <a:xfrm>
            <a:off x="457200" y="4064000"/>
            <a:ext cx="269240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800" b="1">
                <a:solidFill>
                  <a:srgbClr val="0A1628"/>
                </a:solidFill>
                <a:latin typeface="Georgia"/>
              </a:rPr>
              <a:t>1 año y 4 meses</a:t>
            </a:r>
          </a:p>
        </p:txBody>
      </p:sp>
      <p:sp>
        <p:nvSpPr>
          <p:cNvPr id="227" name="Referencia TOTAL TRANSCURRIDO"/>
          <p:cNvSpPr/>
          <p:nvPr/>
        </p:nvSpPr>
        <p:spPr>
          <a:xfrm>
            <a:off x="457200" y="4381500"/>
            <a:ext cx="269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000" b="0">
                <a:solidFill>
                  <a:srgbClr val="607D8B"/>
                </a:solidFill>
                <a:latin typeface="Calibri"/>
              </a:rPr>
              <a:t>Desde el inicio: Jun/2025</a:t>
            </a:r>
          </a:p>
        </p:txBody>
      </p:sp>
      <p:sp>
        <p:nvSpPr>
          <p:cNvPr id="228" name="PRODUCCIÓN TRANSCURRIDA"/>
          <p:cNvSpPr/>
          <p:nvPr/>
        </p:nvSpPr>
        <p:spPr>
          <a:xfrm>
            <a:off x="3378200" y="3810000"/>
            <a:ext cx="264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000" b="1">
                <a:solidFill>
                  <a:srgbClr val="0D9488"/>
                </a:solidFill>
                <a:latin typeface="Calibri"/>
              </a:rPr>
              <a:t>PRODUCCIÓN TRANSCURRIDA</a:t>
            </a:r>
          </a:p>
        </p:txBody>
      </p:sp>
      <p:sp>
        <p:nvSpPr>
          <p:cNvPr id="229" name="Duración PRODUCCIÓN TRANSCURRIDA"/>
          <p:cNvSpPr/>
          <p:nvPr/>
        </p:nvSpPr>
        <p:spPr>
          <a:xfrm>
            <a:off x="3378200" y="4064000"/>
            <a:ext cx="264160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800" b="1">
                <a:solidFill>
                  <a:srgbClr val="0D9488"/>
                </a:solidFill>
                <a:latin typeface="Georgia"/>
              </a:rPr>
              <a:t>9 meses</a:t>
            </a:r>
          </a:p>
        </p:txBody>
      </p:sp>
      <p:sp>
        <p:nvSpPr>
          <p:cNvPr id="230" name="Referencia PRODUCCIÓN TRANSCURRIDA"/>
          <p:cNvSpPr/>
          <p:nvPr/>
        </p:nvSpPr>
        <p:spPr>
          <a:xfrm>
            <a:off x="3378200" y="4381500"/>
            <a:ext cx="264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000" b="0">
                <a:solidFill>
                  <a:srgbClr val="607D8B"/>
                </a:solidFill>
                <a:latin typeface="Calibri"/>
              </a:rPr>
              <a:t>Desde producción: Ene/2026</a:t>
            </a:r>
          </a:p>
        </p:txBody>
      </p:sp>
      <p:sp>
        <p:nvSpPr>
          <p:cNvPr id="231" name="TIEMPO RESTANTE ESTIMADO*"/>
          <p:cNvSpPr/>
          <p:nvPr/>
        </p:nvSpPr>
        <p:spPr>
          <a:xfrm>
            <a:off x="6299200" y="3810000"/>
            <a:ext cx="23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000" b="1">
                <a:solidFill>
                  <a:srgbClr val="C46313"/>
                </a:solidFill>
                <a:latin typeface="Calibri"/>
              </a:rPr>
              <a:t>TIEMPO RESTANTE ESTIMADO*</a:t>
            </a:r>
          </a:p>
        </p:txBody>
      </p:sp>
      <p:sp>
        <p:nvSpPr>
          <p:cNvPr id="232" name="Duración TIEMPO RESTANTE ESTIMADO*"/>
          <p:cNvSpPr/>
          <p:nvPr/>
        </p:nvSpPr>
        <p:spPr>
          <a:xfrm>
            <a:off x="6299200" y="4064000"/>
            <a:ext cx="238760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800" b="1">
                <a:solidFill>
                  <a:srgbClr val="37474F"/>
                </a:solidFill>
                <a:latin typeface="Georgia"/>
              </a:rPr>
              <a:t>1 mes y 1 día</a:t>
            </a:r>
          </a:p>
        </p:txBody>
      </p:sp>
      <p:sp>
        <p:nvSpPr>
          <p:cNvPr id="233" name="Referencia TIEMPO RESTANTE ESTIMADO*"/>
          <p:cNvSpPr/>
          <p:nvPr/>
        </p:nvSpPr>
        <p:spPr>
          <a:xfrm>
            <a:off x="6299200" y="4381500"/>
            <a:ext cx="23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000" b="0">
                <a:solidFill>
                  <a:srgbClr val="37474F"/>
                </a:solidFill>
                <a:latin typeface="Calibri"/>
              </a:rPr>
              <a:t>Hasta autonomía: 31/10/2026</a:t>
            </a:r>
          </a:p>
        </p:txBody>
      </p:sp>
      <p:sp>
        <p:nvSpPr>
          <p:cNvPr id="950" name="Hito exportación 950"/>
          <p:cNvSpPr/>
          <p:nvPr/>
        </p:nvSpPr>
        <p:spPr>
          <a:xfrm>
            <a:off x="6584950" y="2114550"/>
            <a:ext cx="88900" cy="88900"/>
          </a:xfrm>
          <a:prstGeom prst="ellipse">
            <a:avLst/>
          </a:prstGeom>
          <a:solidFill>
            <a:srgbClr val="C46313"/>
          </a:solidFill>
          <a:ln>
            <a:noFill/>
          </a:ln>
        </p:spPr>
        <p:txBody>
          <a:bodyPr/>
          <a:lstStyle/>
          <a:p>
            <a:endParaRPr lang="es-PY"/>
          </a:p>
        </p:txBody>
      </p:sp>
      <p:sp>
        <p:nvSpPr>
          <p:cNvPr id="951" name="Hito exportación 951"/>
          <p:cNvSpPr/>
          <p:nvPr/>
        </p:nvSpPr>
        <p:spPr>
          <a:xfrm>
            <a:off x="5943600" y="14859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200" b="1" dirty="0">
                <a:solidFill>
                  <a:srgbClr val="C46313"/>
                </a:solidFill>
                <a:latin typeface="Calibri"/>
              </a:rPr>
              <a:t>May/2026</a:t>
            </a:r>
          </a:p>
        </p:txBody>
      </p:sp>
      <p:sp>
        <p:nvSpPr>
          <p:cNvPr id="952" name="Hito exportación 952"/>
          <p:cNvSpPr/>
          <p:nvPr/>
        </p:nvSpPr>
        <p:spPr>
          <a:xfrm>
            <a:off x="5918200" y="2400300"/>
            <a:ext cx="14224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200" b="0" dirty="0">
                <a:solidFill>
                  <a:srgbClr val="C46313"/>
                </a:solidFill>
                <a:latin typeface="Calibri"/>
              </a:rPr>
              <a:t>1.ª exportación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endParaRPr lang="es-PY" sz="1200" b="0" dirty="0">
              <a:solidFill>
                <a:srgbClr val="C46313"/>
              </a:solidFill>
              <a:latin typeface="Calibri"/>
            </a:endParaRPr>
          </a:p>
        </p:txBody>
      </p:sp>
      <p:pic>
        <p:nvPicPr>
          <p:cNvPr id="953" name="Copied Picture 953">
            <a:extLst>
              <a:ext uri="{FF2B5EF4-FFF2-40B4-BE49-F238E27FC236}">
                <a16:creationId xmlns:a16="http://schemas.microsoft.com/office/drawing/2014/main" id="{9B085023-B01C-4923-AFBB-B15D9D081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0430" y="38100"/>
            <a:ext cx="1096190" cy="558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000951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4" name="Text 1"/>
          <p:cNvSpPr/>
          <p:nvPr/>
        </p:nvSpPr>
        <p:spPr>
          <a:xfrm>
            <a:off x="914400" y="127000"/>
            <a:ext cx="66548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>
              <a:buNone/>
            </a:pPr>
            <a:r>
              <a:rPr lang="es-PY" sz="2000" b="1" dirty="0">
                <a:solidFill>
                  <a:srgbClr val="FFFFFF"/>
                </a:solidFill>
                <a:latin typeface="Georgia"/>
              </a:rPr>
              <a:t>AUTONOMÍA OPERATIVA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2967E7F-C87B-41D8-A920-362E0BAB3E1C}"/>
              </a:ext>
            </a:extLst>
          </p:cNvPr>
          <p:cNvSpPr/>
          <p:nvPr/>
        </p:nvSpPr>
        <p:spPr>
          <a:xfrm>
            <a:off x="457200" y="1092200"/>
            <a:ext cx="2235200" cy="3683000"/>
          </a:xfrm>
          <a:prstGeom prst="rect">
            <a:avLst/>
          </a:prstGeom>
          <a:solidFill>
            <a:srgbClr val="0A16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901" name="Medidor fondo"/>
          <p:cNvSpPr/>
          <p:nvPr/>
        </p:nvSpPr>
        <p:spPr>
          <a:xfrm>
            <a:off x="762000" y="1763792"/>
            <a:ext cx="1625600" cy="1625600"/>
          </a:xfrm>
          <a:prstGeom prst="blockArc">
            <a:avLst>
              <a:gd name="adj1" fmla="val 10800000"/>
              <a:gd name="adj2" fmla="val 0"/>
              <a:gd name="adj3" fmla="val 15000"/>
            </a:avLst>
          </a:prstGeom>
          <a:solidFill>
            <a:srgbClr val="34465E"/>
          </a:solidFill>
          <a:ln>
            <a:noFill/>
          </a:ln>
        </p:spPr>
        <p:txBody>
          <a:bodyPr/>
          <a:lstStyle/>
          <a:p>
            <a:endParaRPr lang="es-PY"/>
          </a:p>
        </p:txBody>
      </p:sp>
      <p:sp>
        <p:nvSpPr>
          <p:cNvPr id="902" name="Medidor avance"/>
          <p:cNvSpPr/>
          <p:nvPr/>
        </p:nvSpPr>
        <p:spPr>
          <a:xfrm>
            <a:off x="762000" y="1763792"/>
            <a:ext cx="1625600" cy="1625600"/>
          </a:xfrm>
          <a:prstGeom prst="blockArc">
            <a:avLst>
              <a:gd name="adj1" fmla="val 10800000"/>
              <a:gd name="adj2" fmla="val 16848000"/>
              <a:gd name="adj3" fmla="val 15000"/>
            </a:avLst>
          </a:prstGeom>
          <a:solidFill>
            <a:srgbClr val="1F9BAA"/>
          </a:solidFill>
          <a:ln>
            <a:noFill/>
          </a:ln>
        </p:spPr>
        <p:txBody>
          <a:bodyPr/>
          <a:lstStyle/>
          <a:p>
            <a:endParaRPr lang="es-PY"/>
          </a:p>
        </p:txBody>
      </p:sp>
      <p:sp>
        <p:nvSpPr>
          <p:cNvPr id="903" name="Medidor 0%"/>
          <p:cNvSpPr txBox="1"/>
          <p:nvPr/>
        </p:nvSpPr>
        <p:spPr>
          <a:xfrm>
            <a:off x="723900" y="2589292"/>
            <a:ext cx="381000" cy="1270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s-PY" sz="700" dirty="0">
                <a:solidFill>
                  <a:srgbClr val="9FB0C3"/>
                </a:solidFill>
                <a:latin typeface="Calibri"/>
              </a:rPr>
              <a:t>0%</a:t>
            </a:r>
          </a:p>
        </p:txBody>
      </p:sp>
      <p:sp>
        <p:nvSpPr>
          <p:cNvPr id="904" name="Medidor 100%"/>
          <p:cNvSpPr txBox="1"/>
          <p:nvPr/>
        </p:nvSpPr>
        <p:spPr>
          <a:xfrm>
            <a:off x="2044700" y="2589292"/>
            <a:ext cx="381000" cy="1270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s-PY" sz="700" dirty="0">
                <a:solidFill>
                  <a:srgbClr val="9FB0C3"/>
                </a:solidFill>
                <a:latin typeface="Calibri"/>
              </a:rPr>
              <a:t>100%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38CD418-E3F0-4F7C-AD46-7D81B179D2C4}"/>
              </a:ext>
            </a:extLst>
          </p:cNvPr>
          <p:cNvSpPr txBox="1"/>
          <p:nvPr/>
        </p:nvSpPr>
        <p:spPr>
          <a:xfrm>
            <a:off x="635000" y="2043192"/>
            <a:ext cx="1879600" cy="711200"/>
          </a:xfrm>
          <a:prstGeom prst="rect">
            <a:avLst/>
          </a:prstGeom>
          <a:noFill/>
        </p:spPr>
        <p:txBody>
          <a:bodyPr vertOverflow="overflow" vert="horz" wrap="square" rtlCol="0" anchor="b" anchorCtr="0"/>
          <a:lstStyle/>
          <a:p>
            <a:pPr algn="ctr"/>
            <a:r>
              <a:rPr lang="es-PY" sz="3000" b="1">
                <a:solidFill>
                  <a:srgbClr val="FFFFFF"/>
                </a:solidFill>
                <a:latin typeface="Georgia"/>
              </a:rPr>
              <a:t>56%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C52CC73-0C46-44EE-9B16-04F83250744C}"/>
              </a:ext>
            </a:extLst>
          </p:cNvPr>
          <p:cNvSpPr txBox="1"/>
          <p:nvPr/>
        </p:nvSpPr>
        <p:spPr>
          <a:xfrm>
            <a:off x="635000" y="2779792"/>
            <a:ext cx="18796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s-PY" sz="1000" b="1">
                <a:solidFill>
                  <a:srgbClr val="7FD4E0"/>
                </a:solidFill>
                <a:latin typeface="Calibri"/>
                <a:ea typeface="Calibri"/>
                <a:cs typeface="Calibri"/>
              </a:rPr>
              <a:t>AUTONOMÍA PARA OPERAR
INDEPENDIENTEMENTE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80B4710-C1EE-459A-AFD0-3A1A7B2752D3}"/>
              </a:ext>
            </a:extLst>
          </p:cNvPr>
          <p:cNvSpPr/>
          <p:nvPr/>
        </p:nvSpPr>
        <p:spPr>
          <a:xfrm>
            <a:off x="635000" y="3236992"/>
            <a:ext cx="1879600" cy="12700"/>
          </a:xfrm>
          <a:prstGeom prst="rect">
            <a:avLst/>
          </a:prstGeom>
          <a:solidFill>
            <a:srgbClr val="2C436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9FD41C4-7487-432B-AE72-ABC820E91EA6}"/>
              </a:ext>
            </a:extLst>
          </p:cNvPr>
          <p:cNvSpPr txBox="1"/>
          <p:nvPr/>
        </p:nvSpPr>
        <p:spPr>
          <a:xfrm>
            <a:off x="2870200" y="1117600"/>
            <a:ext cx="1981200" cy="152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PY" sz="800" b="1">
                <a:solidFill>
                  <a:srgbClr val="5A6B7F"/>
                </a:solidFill>
                <a:latin typeface="Calibri"/>
                <a:ea typeface="Calibri"/>
                <a:cs typeface="Calibri"/>
              </a:rPr>
              <a:t>RUBRO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9D0C66A-9469-432B-BB15-1F24E1A68EDE}"/>
              </a:ext>
            </a:extLst>
          </p:cNvPr>
          <p:cNvSpPr txBox="1"/>
          <p:nvPr/>
        </p:nvSpPr>
        <p:spPr>
          <a:xfrm>
            <a:off x="4953000" y="1117600"/>
            <a:ext cx="2616200" cy="152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PY" sz="800" b="1">
                <a:solidFill>
                  <a:srgbClr val="5A6B7F"/>
                </a:solidFill>
                <a:latin typeface="Calibri"/>
                <a:ea typeface="Calibri"/>
                <a:cs typeface="Calibri"/>
              </a:rPr>
              <a:t>AVANCE OCT-26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265C5CC-64FB-4D64-BAC7-8D1887E63D6D}"/>
              </a:ext>
            </a:extLst>
          </p:cNvPr>
          <p:cNvSpPr txBox="1"/>
          <p:nvPr/>
        </p:nvSpPr>
        <p:spPr>
          <a:xfrm>
            <a:off x="8178800" y="1117600"/>
            <a:ext cx="508000" cy="152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PY" sz="800" b="1">
                <a:solidFill>
                  <a:srgbClr val="5A6B7F"/>
                </a:solidFill>
                <a:latin typeface="Calibri"/>
                <a:ea typeface="Calibri"/>
                <a:cs typeface="Calibri"/>
              </a:rPr>
              <a:t>CIERRE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98435A5-2365-4651-B716-EBCD130402CD}"/>
              </a:ext>
            </a:extLst>
          </p:cNvPr>
          <p:cNvSpPr/>
          <p:nvPr/>
        </p:nvSpPr>
        <p:spPr>
          <a:xfrm>
            <a:off x="2870200" y="1295400"/>
            <a:ext cx="5816600" cy="12700"/>
          </a:xfrm>
          <a:prstGeom prst="rect">
            <a:avLst/>
          </a:prstGeom>
          <a:solidFill>
            <a:srgbClr val="C9D2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BC55941-097B-4B11-BE94-4FC4BEA3AEA9}"/>
              </a:ext>
            </a:extLst>
          </p:cNvPr>
          <p:cNvSpPr txBox="1"/>
          <p:nvPr/>
        </p:nvSpPr>
        <p:spPr>
          <a:xfrm>
            <a:off x="2870200" y="1397000"/>
            <a:ext cx="19812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 dirty="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Factura </a:t>
            </a:r>
            <a:r>
              <a:rPr lang="es-PY" sz="1000" dirty="0" err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Exp</a:t>
            </a:r>
            <a:r>
              <a:rPr lang="es-PY" sz="1000" dirty="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. CIE S.A a CIE do BR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A9E5916F-3BF1-4AAA-B587-1D77E4F211C6}"/>
              </a:ext>
            </a:extLst>
          </p:cNvPr>
          <p:cNvSpPr/>
          <p:nvPr/>
        </p:nvSpPr>
        <p:spPr>
          <a:xfrm>
            <a:off x="4953000" y="1435100"/>
            <a:ext cx="2616200" cy="114300"/>
          </a:xfrm>
          <a:prstGeom prst="rect">
            <a:avLst/>
          </a:prstGeom>
          <a:solidFill>
            <a:srgbClr val="E6EA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164D4B0-5939-403C-9CCB-92F6B7C455A7}"/>
              </a:ext>
            </a:extLst>
          </p:cNvPr>
          <p:cNvSpPr/>
          <p:nvPr/>
        </p:nvSpPr>
        <p:spPr>
          <a:xfrm>
            <a:off x="4953000" y="1435100"/>
            <a:ext cx="2616200" cy="114300"/>
          </a:xfrm>
          <a:prstGeom prst="rect">
            <a:avLst/>
          </a:prstGeom>
          <a:solidFill>
            <a:srgbClr val="2E9E5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8C8B8CE-D9DC-44CC-BB5D-9BF4153B125B}"/>
              </a:ext>
            </a:extLst>
          </p:cNvPr>
          <p:cNvSpPr txBox="1"/>
          <p:nvPr/>
        </p:nvSpPr>
        <p:spPr>
          <a:xfrm>
            <a:off x="7645400" y="1397000"/>
            <a:ext cx="4318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 b="1">
                <a:solidFill>
                  <a:srgbClr val="2E9E5B"/>
                </a:solidFill>
                <a:latin typeface="Calibri"/>
                <a:ea typeface="Calibri"/>
                <a:cs typeface="Calibri"/>
              </a:rPr>
              <a:t>100%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7F4987A-D2EB-4658-BBFF-B01B5A1308C8}"/>
              </a:ext>
            </a:extLst>
          </p:cNvPr>
          <p:cNvSpPr txBox="1"/>
          <p:nvPr/>
        </p:nvSpPr>
        <p:spPr>
          <a:xfrm>
            <a:off x="8178800" y="1397000"/>
            <a:ext cx="5080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—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6878FA6-71F5-4230-BAA1-04D2411FAB20}"/>
              </a:ext>
            </a:extLst>
          </p:cNvPr>
          <p:cNvSpPr txBox="1"/>
          <p:nvPr/>
        </p:nvSpPr>
        <p:spPr>
          <a:xfrm>
            <a:off x="2870200" y="1676400"/>
            <a:ext cx="19812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Resolución Bicameral Maquila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9EF79BF4-88B7-45DE-8EC7-E8FF780A0623}"/>
              </a:ext>
            </a:extLst>
          </p:cNvPr>
          <p:cNvSpPr/>
          <p:nvPr/>
        </p:nvSpPr>
        <p:spPr>
          <a:xfrm>
            <a:off x="4953000" y="1714500"/>
            <a:ext cx="2616200" cy="114300"/>
          </a:xfrm>
          <a:prstGeom prst="rect">
            <a:avLst/>
          </a:prstGeom>
          <a:solidFill>
            <a:srgbClr val="E6EA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C96A3F50-4E44-45A8-A2AC-6052F7B92254}"/>
              </a:ext>
            </a:extLst>
          </p:cNvPr>
          <p:cNvSpPr/>
          <p:nvPr/>
        </p:nvSpPr>
        <p:spPr>
          <a:xfrm>
            <a:off x="4953000" y="1714500"/>
            <a:ext cx="1255776" cy="114300"/>
          </a:xfrm>
          <a:prstGeom prst="rect">
            <a:avLst/>
          </a:prstGeom>
          <a:solidFill>
            <a:srgbClr val="1F9B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C7C09AC-08A8-42CD-875D-F5F1396DEFCA}"/>
              </a:ext>
            </a:extLst>
          </p:cNvPr>
          <p:cNvSpPr txBox="1"/>
          <p:nvPr/>
        </p:nvSpPr>
        <p:spPr>
          <a:xfrm>
            <a:off x="7645400" y="1676400"/>
            <a:ext cx="4318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48%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19B9323-064F-4F33-A1AF-28F1950C8601}"/>
              </a:ext>
            </a:extLst>
          </p:cNvPr>
          <p:cNvSpPr txBox="1"/>
          <p:nvPr/>
        </p:nvSpPr>
        <p:spPr>
          <a:xfrm>
            <a:off x="2870200" y="1955800"/>
            <a:ext cx="19812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Registro Importador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48218CDC-F1A4-47F4-BE3F-DD11FFE1FF52}"/>
              </a:ext>
            </a:extLst>
          </p:cNvPr>
          <p:cNvSpPr/>
          <p:nvPr/>
        </p:nvSpPr>
        <p:spPr>
          <a:xfrm>
            <a:off x="4953000" y="1993900"/>
            <a:ext cx="2616200" cy="114300"/>
          </a:xfrm>
          <a:prstGeom prst="rect">
            <a:avLst/>
          </a:prstGeom>
          <a:solidFill>
            <a:srgbClr val="E6EA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889EC8CF-CE20-46D1-A74B-121FF204F1FE}"/>
              </a:ext>
            </a:extLst>
          </p:cNvPr>
          <p:cNvSpPr/>
          <p:nvPr/>
        </p:nvSpPr>
        <p:spPr>
          <a:xfrm>
            <a:off x="4953000" y="1993900"/>
            <a:ext cx="1308100" cy="114300"/>
          </a:xfrm>
          <a:prstGeom prst="rect">
            <a:avLst/>
          </a:prstGeom>
          <a:solidFill>
            <a:srgbClr val="1F9B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6DDF873-E8FE-4EF5-8C11-266A88FA441A}"/>
              </a:ext>
            </a:extLst>
          </p:cNvPr>
          <p:cNvSpPr txBox="1"/>
          <p:nvPr/>
        </p:nvSpPr>
        <p:spPr>
          <a:xfrm>
            <a:off x="7645400" y="1955800"/>
            <a:ext cx="4318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50%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1B2173B1-77E7-4C64-B3BF-045E508BC20D}"/>
              </a:ext>
            </a:extLst>
          </p:cNvPr>
          <p:cNvSpPr txBox="1"/>
          <p:nvPr/>
        </p:nvSpPr>
        <p:spPr>
          <a:xfrm>
            <a:off x="8178800" y="1955800"/>
            <a:ext cx="5080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16/10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F5311A79-6F15-4CBC-BBB7-F650DC82093C}"/>
              </a:ext>
            </a:extLst>
          </p:cNvPr>
          <p:cNvSpPr txBox="1"/>
          <p:nvPr/>
        </p:nvSpPr>
        <p:spPr>
          <a:xfrm>
            <a:off x="2870200" y="2235200"/>
            <a:ext cx="19812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 dirty="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Registro Exportador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578EFE56-5DCC-4E57-9595-D16E2E5DFC42}"/>
              </a:ext>
            </a:extLst>
          </p:cNvPr>
          <p:cNvSpPr/>
          <p:nvPr/>
        </p:nvSpPr>
        <p:spPr>
          <a:xfrm>
            <a:off x="4953000" y="2273300"/>
            <a:ext cx="2616200" cy="114300"/>
          </a:xfrm>
          <a:prstGeom prst="rect">
            <a:avLst/>
          </a:prstGeom>
          <a:solidFill>
            <a:srgbClr val="E6EA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5FB55DC2-7B73-414B-AEBA-718E8B4860CE}"/>
              </a:ext>
            </a:extLst>
          </p:cNvPr>
          <p:cNvSpPr/>
          <p:nvPr/>
        </p:nvSpPr>
        <p:spPr>
          <a:xfrm>
            <a:off x="4953000" y="2273300"/>
            <a:ext cx="2406904" cy="114300"/>
          </a:xfrm>
          <a:prstGeom prst="rect">
            <a:avLst/>
          </a:prstGeom>
          <a:solidFill>
            <a:srgbClr val="1F9B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502B36D7-A12B-4DC9-905D-9BED8FA453F7}"/>
              </a:ext>
            </a:extLst>
          </p:cNvPr>
          <p:cNvSpPr txBox="1"/>
          <p:nvPr/>
        </p:nvSpPr>
        <p:spPr>
          <a:xfrm>
            <a:off x="7645400" y="2235200"/>
            <a:ext cx="4318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92%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AE0892F-52E2-4343-A10C-6F6286BD4883}"/>
              </a:ext>
            </a:extLst>
          </p:cNvPr>
          <p:cNvSpPr txBox="1"/>
          <p:nvPr/>
        </p:nvSpPr>
        <p:spPr>
          <a:xfrm>
            <a:off x="8178800" y="2235200"/>
            <a:ext cx="5080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16/10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97154A40-D23C-4D9E-B64B-1CB26D28BA0E}"/>
              </a:ext>
            </a:extLst>
          </p:cNvPr>
          <p:cNvSpPr txBox="1"/>
          <p:nvPr/>
        </p:nvSpPr>
        <p:spPr>
          <a:xfrm>
            <a:off x="2870200" y="2514600"/>
            <a:ext cx="19812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Presentación de Planos de CIE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B94F4A9D-DAD0-48D8-A247-ED019C8A50AB}"/>
              </a:ext>
            </a:extLst>
          </p:cNvPr>
          <p:cNvSpPr/>
          <p:nvPr/>
        </p:nvSpPr>
        <p:spPr>
          <a:xfrm>
            <a:off x="4953000" y="2552700"/>
            <a:ext cx="2616200" cy="114300"/>
          </a:xfrm>
          <a:prstGeom prst="rect">
            <a:avLst/>
          </a:prstGeom>
          <a:solidFill>
            <a:srgbClr val="E6EA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8B004171-EB85-4079-AC57-6B08DF443947}"/>
              </a:ext>
            </a:extLst>
          </p:cNvPr>
          <p:cNvSpPr/>
          <p:nvPr/>
        </p:nvSpPr>
        <p:spPr>
          <a:xfrm>
            <a:off x="4953000" y="2552700"/>
            <a:ext cx="2092960" cy="114300"/>
          </a:xfrm>
          <a:prstGeom prst="rect">
            <a:avLst/>
          </a:prstGeom>
          <a:solidFill>
            <a:srgbClr val="1F9B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80E4DBFC-F7B6-406D-971F-D60729E2F7A6}"/>
              </a:ext>
            </a:extLst>
          </p:cNvPr>
          <p:cNvSpPr txBox="1"/>
          <p:nvPr/>
        </p:nvSpPr>
        <p:spPr>
          <a:xfrm>
            <a:off x="7645400" y="2514600"/>
            <a:ext cx="4318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80%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822B049-D7A5-42F4-BC24-667A022DD8A2}"/>
              </a:ext>
            </a:extLst>
          </p:cNvPr>
          <p:cNvSpPr txBox="1"/>
          <p:nvPr/>
        </p:nvSpPr>
        <p:spPr>
          <a:xfrm>
            <a:off x="8178800" y="2514600"/>
            <a:ext cx="5080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16/10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8245F114-2580-4F9A-A615-DFBFA195BA9C}"/>
              </a:ext>
            </a:extLst>
          </p:cNvPr>
          <p:cNvSpPr txBox="1"/>
          <p:nvPr/>
        </p:nvSpPr>
        <p:spPr>
          <a:xfrm>
            <a:off x="2870200" y="2794000"/>
            <a:ext cx="19812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Habilitación Municipal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20E07835-A074-4AF9-A80E-0E2069C39ECF}"/>
              </a:ext>
            </a:extLst>
          </p:cNvPr>
          <p:cNvSpPr/>
          <p:nvPr/>
        </p:nvSpPr>
        <p:spPr>
          <a:xfrm>
            <a:off x="4953000" y="2832100"/>
            <a:ext cx="2616200" cy="114300"/>
          </a:xfrm>
          <a:prstGeom prst="rect">
            <a:avLst/>
          </a:prstGeom>
          <a:solidFill>
            <a:srgbClr val="E6EA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A4F91CC6-2477-4EC3-A85B-E60A7F0A40BC}"/>
              </a:ext>
            </a:extLst>
          </p:cNvPr>
          <p:cNvSpPr/>
          <p:nvPr/>
        </p:nvSpPr>
        <p:spPr>
          <a:xfrm>
            <a:off x="4953000" y="2832100"/>
            <a:ext cx="287782" cy="114300"/>
          </a:xfrm>
          <a:prstGeom prst="rect">
            <a:avLst/>
          </a:prstGeom>
          <a:solidFill>
            <a:srgbClr val="1F9B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11004A21-DB04-4C8B-865C-078A4E0D6566}"/>
              </a:ext>
            </a:extLst>
          </p:cNvPr>
          <p:cNvSpPr txBox="1"/>
          <p:nvPr/>
        </p:nvSpPr>
        <p:spPr>
          <a:xfrm>
            <a:off x="7645400" y="2794000"/>
            <a:ext cx="4318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11%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F7BBDA4-866D-4685-94EE-3E47397E1B95}"/>
              </a:ext>
            </a:extLst>
          </p:cNvPr>
          <p:cNvSpPr txBox="1"/>
          <p:nvPr/>
        </p:nvSpPr>
        <p:spPr>
          <a:xfrm>
            <a:off x="8178800" y="2794000"/>
            <a:ext cx="5080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14/01/27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96A5629A-C5B9-43E7-B4AD-5C99516E7F65}"/>
              </a:ext>
            </a:extLst>
          </p:cNvPr>
          <p:cNvSpPr txBox="1"/>
          <p:nvPr/>
        </p:nvSpPr>
        <p:spPr>
          <a:xfrm>
            <a:off x="2870200" y="3073400"/>
            <a:ext cx="19812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Patente Comercial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345568DB-DE98-4B32-8593-CD9399D47334}"/>
              </a:ext>
            </a:extLst>
          </p:cNvPr>
          <p:cNvSpPr/>
          <p:nvPr/>
        </p:nvSpPr>
        <p:spPr>
          <a:xfrm>
            <a:off x="4953000" y="3111500"/>
            <a:ext cx="2616200" cy="114300"/>
          </a:xfrm>
          <a:prstGeom prst="rect">
            <a:avLst/>
          </a:prstGeom>
          <a:solidFill>
            <a:srgbClr val="E6EA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DA70472C-C26C-4539-8991-6CD5CCBCDE8F}"/>
              </a:ext>
            </a:extLst>
          </p:cNvPr>
          <p:cNvSpPr/>
          <p:nvPr/>
        </p:nvSpPr>
        <p:spPr>
          <a:xfrm>
            <a:off x="4953000" y="3111500"/>
            <a:ext cx="2354580" cy="114300"/>
          </a:xfrm>
          <a:prstGeom prst="rect">
            <a:avLst/>
          </a:prstGeom>
          <a:solidFill>
            <a:srgbClr val="1F9B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D30AF61-AE6B-473E-B1E9-A960EE24B06E}"/>
              </a:ext>
            </a:extLst>
          </p:cNvPr>
          <p:cNvSpPr txBox="1"/>
          <p:nvPr/>
        </p:nvSpPr>
        <p:spPr>
          <a:xfrm>
            <a:off x="7645400" y="3073400"/>
            <a:ext cx="4318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90%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17050B1A-875C-4FBB-B697-E523A00B02C6}"/>
              </a:ext>
            </a:extLst>
          </p:cNvPr>
          <p:cNvSpPr txBox="1"/>
          <p:nvPr/>
        </p:nvSpPr>
        <p:spPr>
          <a:xfrm>
            <a:off x="8178800" y="3073400"/>
            <a:ext cx="5080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16/10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FCAB9E35-0B8A-4341-82FE-B05BBF6681BD}"/>
              </a:ext>
            </a:extLst>
          </p:cNvPr>
          <p:cNvSpPr txBox="1"/>
          <p:nvPr/>
        </p:nvSpPr>
        <p:spPr>
          <a:xfrm>
            <a:off x="2870200" y="3352800"/>
            <a:ext cx="19812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Licencia Ambiental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3C76E76E-0E6A-4EB9-ACE4-0984A69E3D96}"/>
              </a:ext>
            </a:extLst>
          </p:cNvPr>
          <p:cNvSpPr/>
          <p:nvPr/>
        </p:nvSpPr>
        <p:spPr>
          <a:xfrm>
            <a:off x="4953000" y="3390900"/>
            <a:ext cx="2616200" cy="114300"/>
          </a:xfrm>
          <a:prstGeom prst="rect">
            <a:avLst/>
          </a:prstGeom>
          <a:solidFill>
            <a:srgbClr val="E6EA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EE9A14CB-C262-4E00-891A-E4093144C632}"/>
              </a:ext>
            </a:extLst>
          </p:cNvPr>
          <p:cNvSpPr/>
          <p:nvPr/>
        </p:nvSpPr>
        <p:spPr>
          <a:xfrm>
            <a:off x="4953000" y="3390900"/>
            <a:ext cx="1465072" cy="114300"/>
          </a:xfrm>
          <a:prstGeom prst="rect">
            <a:avLst/>
          </a:prstGeom>
          <a:solidFill>
            <a:srgbClr val="1F9B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0194E633-C1D1-4D79-8D12-9F48B39FAFAE}"/>
              </a:ext>
            </a:extLst>
          </p:cNvPr>
          <p:cNvSpPr txBox="1"/>
          <p:nvPr/>
        </p:nvSpPr>
        <p:spPr>
          <a:xfrm>
            <a:off x="7645400" y="3352800"/>
            <a:ext cx="4318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56%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1088669F-4FCE-46ED-AD4D-9EA51A1D62EE}"/>
              </a:ext>
            </a:extLst>
          </p:cNvPr>
          <p:cNvSpPr txBox="1"/>
          <p:nvPr/>
        </p:nvSpPr>
        <p:spPr>
          <a:xfrm>
            <a:off x="2870200" y="3632200"/>
            <a:ext cx="19812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Gestiones Bancarias</a:t>
            </a:r>
            <a:endParaRPr lang="es-PY" sz="1000" b="1">
              <a:solidFill>
                <a:srgbClr val="0A162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76087D86-5444-4241-BF4D-6C1803BBE6E3}"/>
              </a:ext>
            </a:extLst>
          </p:cNvPr>
          <p:cNvSpPr/>
          <p:nvPr/>
        </p:nvSpPr>
        <p:spPr>
          <a:xfrm>
            <a:off x="4953000" y="3670300"/>
            <a:ext cx="2616200" cy="114300"/>
          </a:xfrm>
          <a:prstGeom prst="rect">
            <a:avLst/>
          </a:prstGeom>
          <a:solidFill>
            <a:srgbClr val="E6EA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A37FC325-52FA-486D-9CE8-9E1564318378}"/>
              </a:ext>
            </a:extLst>
          </p:cNvPr>
          <p:cNvSpPr/>
          <p:nvPr/>
        </p:nvSpPr>
        <p:spPr>
          <a:xfrm>
            <a:off x="4953000" y="3670300"/>
            <a:ext cx="340106" cy="114300"/>
          </a:xfrm>
          <a:prstGeom prst="rect">
            <a:avLst/>
          </a:prstGeom>
          <a:solidFill>
            <a:srgbClr val="1F9B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9E2FD515-4C0F-41F5-8947-5A3B6187D5E3}"/>
              </a:ext>
            </a:extLst>
          </p:cNvPr>
          <p:cNvSpPr txBox="1"/>
          <p:nvPr/>
        </p:nvSpPr>
        <p:spPr>
          <a:xfrm>
            <a:off x="7645400" y="3632200"/>
            <a:ext cx="4318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13%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E1FD1C86-E79D-4BC5-B082-0892004C8446}"/>
              </a:ext>
            </a:extLst>
          </p:cNvPr>
          <p:cNvSpPr txBox="1"/>
          <p:nvPr/>
        </p:nvSpPr>
        <p:spPr>
          <a:xfrm>
            <a:off x="2870200" y="3911600"/>
            <a:ext cx="19812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Constancias SIARA</a:t>
            </a:r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8126DDDE-E778-4583-B76A-825A1B60B4F3}"/>
              </a:ext>
            </a:extLst>
          </p:cNvPr>
          <p:cNvSpPr/>
          <p:nvPr/>
        </p:nvSpPr>
        <p:spPr>
          <a:xfrm>
            <a:off x="4953000" y="3949700"/>
            <a:ext cx="2616200" cy="114300"/>
          </a:xfrm>
          <a:prstGeom prst="rect">
            <a:avLst/>
          </a:prstGeom>
          <a:solidFill>
            <a:srgbClr val="E6EA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B00D2A4E-BAB4-48AB-9AEB-7C5F71488F4C}"/>
              </a:ext>
            </a:extLst>
          </p:cNvPr>
          <p:cNvSpPr/>
          <p:nvPr/>
        </p:nvSpPr>
        <p:spPr>
          <a:xfrm>
            <a:off x="4953000" y="3949700"/>
            <a:ext cx="1962150" cy="114300"/>
          </a:xfrm>
          <a:prstGeom prst="rect">
            <a:avLst/>
          </a:prstGeom>
          <a:solidFill>
            <a:srgbClr val="1F9B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C7CD195D-4C18-4F39-92F5-4F355602C69F}"/>
              </a:ext>
            </a:extLst>
          </p:cNvPr>
          <p:cNvSpPr txBox="1"/>
          <p:nvPr/>
        </p:nvSpPr>
        <p:spPr>
          <a:xfrm>
            <a:off x="7645400" y="3911600"/>
            <a:ext cx="4318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75%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D9CE7DA7-B4DC-428C-B21B-0FCC105CDDF5}"/>
              </a:ext>
            </a:extLst>
          </p:cNvPr>
          <p:cNvSpPr txBox="1"/>
          <p:nvPr/>
        </p:nvSpPr>
        <p:spPr>
          <a:xfrm>
            <a:off x="2870200" y="4191000"/>
            <a:ext cx="19812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Outsourcing Contable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A3E43BE1-93EA-474E-849F-8DEEA3DA5208}"/>
              </a:ext>
            </a:extLst>
          </p:cNvPr>
          <p:cNvSpPr/>
          <p:nvPr/>
        </p:nvSpPr>
        <p:spPr>
          <a:xfrm>
            <a:off x="4953000" y="4229100"/>
            <a:ext cx="2616200" cy="114300"/>
          </a:xfrm>
          <a:prstGeom prst="rect">
            <a:avLst/>
          </a:prstGeom>
          <a:solidFill>
            <a:srgbClr val="E6EA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C60BA161-F24F-4337-84AD-DDE84C960B1D}"/>
              </a:ext>
            </a:extLst>
          </p:cNvPr>
          <p:cNvSpPr/>
          <p:nvPr/>
        </p:nvSpPr>
        <p:spPr>
          <a:xfrm>
            <a:off x="4953000" y="4229100"/>
            <a:ext cx="1308100" cy="114300"/>
          </a:xfrm>
          <a:prstGeom prst="rect">
            <a:avLst/>
          </a:prstGeom>
          <a:solidFill>
            <a:srgbClr val="1F9B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FE596893-5259-45F9-81AF-8DC3B179D837}"/>
              </a:ext>
            </a:extLst>
          </p:cNvPr>
          <p:cNvSpPr txBox="1"/>
          <p:nvPr/>
        </p:nvSpPr>
        <p:spPr>
          <a:xfrm>
            <a:off x="7645400" y="4191000"/>
            <a:ext cx="4318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50%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2F8970C5-1D74-4811-9350-1871CA3CBC0C}"/>
              </a:ext>
            </a:extLst>
          </p:cNvPr>
          <p:cNvSpPr txBox="1"/>
          <p:nvPr/>
        </p:nvSpPr>
        <p:spPr>
          <a:xfrm>
            <a:off x="2870200" y="4470400"/>
            <a:ext cx="19812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Documentos Societarios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B0C6D512-EA64-419F-B77B-F6AF9D3DE71F}"/>
              </a:ext>
            </a:extLst>
          </p:cNvPr>
          <p:cNvSpPr/>
          <p:nvPr/>
        </p:nvSpPr>
        <p:spPr>
          <a:xfrm>
            <a:off x="4953000" y="4508500"/>
            <a:ext cx="2616200" cy="114300"/>
          </a:xfrm>
          <a:prstGeom prst="rect">
            <a:avLst/>
          </a:prstGeom>
          <a:solidFill>
            <a:srgbClr val="E6EA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A37CDF40-5BCA-4314-879C-BC3DEEA60FA1}"/>
              </a:ext>
            </a:extLst>
          </p:cNvPr>
          <p:cNvSpPr/>
          <p:nvPr/>
        </p:nvSpPr>
        <p:spPr>
          <a:xfrm>
            <a:off x="4953000" y="4508500"/>
            <a:ext cx="2066798" cy="114300"/>
          </a:xfrm>
          <a:prstGeom prst="rect">
            <a:avLst/>
          </a:prstGeom>
          <a:solidFill>
            <a:srgbClr val="1F9B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7EF4DA4E-4C3E-42B7-B305-13B96C76BD59}"/>
              </a:ext>
            </a:extLst>
          </p:cNvPr>
          <p:cNvSpPr txBox="1"/>
          <p:nvPr/>
        </p:nvSpPr>
        <p:spPr>
          <a:xfrm>
            <a:off x="7645400" y="4470400"/>
            <a:ext cx="4318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79%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5A083282-8E32-4170-A4B8-166CBC3A272E}"/>
              </a:ext>
            </a:extLst>
          </p:cNvPr>
          <p:cNvSpPr txBox="1"/>
          <p:nvPr/>
        </p:nvSpPr>
        <p:spPr>
          <a:xfrm>
            <a:off x="8178800" y="1676400"/>
            <a:ext cx="5080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21/10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331870F5-8776-40DF-BC9F-EC3DD87B824B}"/>
              </a:ext>
            </a:extLst>
          </p:cNvPr>
          <p:cNvSpPr txBox="1"/>
          <p:nvPr/>
        </p:nvSpPr>
        <p:spPr>
          <a:xfrm>
            <a:off x="8178800" y="3352800"/>
            <a:ext cx="5080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14/01/27</a:t>
            </a: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05D7D796-E2AF-400D-91ED-AD3E72E1D3C9}"/>
              </a:ext>
            </a:extLst>
          </p:cNvPr>
          <p:cNvSpPr txBox="1"/>
          <p:nvPr/>
        </p:nvSpPr>
        <p:spPr>
          <a:xfrm>
            <a:off x="8178800" y="3632200"/>
            <a:ext cx="5080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19/10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85693A84-25E7-4FCF-B291-DFAEAA531C49}"/>
              </a:ext>
            </a:extLst>
          </p:cNvPr>
          <p:cNvSpPr txBox="1"/>
          <p:nvPr/>
        </p:nvSpPr>
        <p:spPr>
          <a:xfrm>
            <a:off x="8178800" y="3911600"/>
            <a:ext cx="5080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21/10</a:t>
            </a: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068D1341-C3BE-437D-9388-087E44444E05}"/>
              </a:ext>
            </a:extLst>
          </p:cNvPr>
          <p:cNvSpPr txBox="1"/>
          <p:nvPr/>
        </p:nvSpPr>
        <p:spPr>
          <a:xfrm>
            <a:off x="8178800" y="4191000"/>
            <a:ext cx="5080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16/10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401470C3-F811-4B46-95E4-DB9CD0F7208D}"/>
              </a:ext>
            </a:extLst>
          </p:cNvPr>
          <p:cNvSpPr txBox="1"/>
          <p:nvPr/>
        </p:nvSpPr>
        <p:spPr>
          <a:xfrm>
            <a:off x="8178800" y="4470400"/>
            <a:ext cx="5080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PY" sz="10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30/10</a:t>
            </a:r>
          </a:p>
        </p:txBody>
      </p:sp>
      <p:pic>
        <p:nvPicPr>
          <p:cNvPr id="905" name="Graphic 905" descr="Medidor de ava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300" y="114300"/>
            <a:ext cx="406400" cy="406400"/>
          </a:xfrm>
          <a:prstGeom prst="rect">
            <a:avLst/>
          </a:prstGeom>
        </p:spPr>
      </p:pic>
      <p:pic>
        <p:nvPicPr>
          <p:cNvPr id="906" name="Copied Picture 906">
            <a:extLst>
              <a:ext uri="{FF2B5EF4-FFF2-40B4-BE49-F238E27FC236}">
                <a16:creationId xmlns:a16="http://schemas.microsoft.com/office/drawing/2014/main" id="{9B085023-B01C-4923-AFBB-B15D9D081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0430" y="38100"/>
            <a:ext cx="1096190" cy="558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994074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PY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27000"/>
            <a:ext cx="66548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>
              <a:buNone/>
            </a:pPr>
            <a:r>
              <a:rPr lang="es-PY" sz="2000" b="1" dirty="0">
                <a:solidFill>
                  <a:srgbClr val="FFFFFF"/>
                </a:solidFill>
                <a:latin typeface="Georgia"/>
              </a:rPr>
              <a:t>INVERSIÓN Y GASTOS: USD 3.032.559</a:t>
            </a:r>
          </a:p>
        </p:txBody>
      </p:sp>
      <p:sp>
        <p:nvSpPr>
          <p:cNvPr id="6" name="Text 2"/>
          <p:cNvSpPr/>
          <p:nvPr/>
        </p:nvSpPr>
        <p:spPr>
          <a:xfrm>
            <a:off x="457200" y="914400"/>
            <a:ext cx="822960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s-PY" sz="1200" b="1" dirty="0">
                <a:solidFill>
                  <a:srgbClr val="0A1628"/>
                </a:solidFill>
              </a:rPr>
              <a:t>Pagos de CIE S.A. al 30/09/2026 + proyección oct-26, overhead 7% e intereses al 9% del plan · TC provisorio oct-26: 5.851</a:t>
            </a: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295400"/>
          <a:ext cx="5537200" cy="3213077"/>
        </p:xfrm>
        <a:graphic>
          <a:graphicData uri="http://schemas.openxmlformats.org/drawingml/2006/table">
            <a:tbl>
              <a:tblPr/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0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Y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CONCEPTO</a:t>
                      </a:r>
                    </a:p>
                  </a:txBody>
                  <a:tcPr marL="88900" marR="88900" marT="38100" marB="38100" anchor="ctr">
                    <a:lnB w="6350">
                      <a:solidFill>
                        <a:srgbClr val="CFD8DC"/>
                      </a:solidFill>
                    </a:lnB>
                    <a:solidFill>
                      <a:srgbClr val="0F2B4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PY" sz="1000" b="1">
                          <a:solidFill>
                            <a:srgbClr val="FFFFFF"/>
                          </a:solidFill>
                          <a:latin typeface="Calibri"/>
                        </a:rPr>
                        <a:t>GUARANÍES (Gs)</a:t>
                      </a:r>
                    </a:p>
                  </a:txBody>
                  <a:tcPr marL="88900" marR="88900" marT="38100" marB="38100" anchor="ctr">
                    <a:lnB w="6350">
                      <a:solidFill>
                        <a:srgbClr val="CFD8DC"/>
                      </a:solidFill>
                    </a:lnB>
                    <a:solidFill>
                      <a:srgbClr val="0F2B4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PY" sz="1000" b="1">
                          <a:solidFill>
                            <a:srgbClr val="FFFFFF"/>
                          </a:solidFill>
                          <a:latin typeface="Calibri"/>
                        </a:rPr>
                        <a:t>USD</a:t>
                      </a:r>
                    </a:p>
                  </a:txBody>
                  <a:tcPr marL="88900" marR="88900" marT="38100" marB="38100" anchor="ctr">
                    <a:lnB w="6350">
                      <a:solidFill>
                        <a:srgbClr val="CFD8DC"/>
                      </a:solidFill>
                    </a:lnB>
                    <a:solidFill>
                      <a:srgbClr val="0F2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0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Y" sz="1000" b="0" dirty="0">
                          <a:solidFill>
                            <a:srgbClr val="37474F"/>
                          </a:solidFill>
                          <a:latin typeface="Calibri"/>
                        </a:rPr>
                        <a:t>(+) Implantación</a:t>
                      </a:r>
                    </a:p>
                  </a:txBody>
                  <a:tcPr marL="88900" marR="88900" marT="38100" marB="38100" anchor="ctr"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FD8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PY" sz="1000" b="0">
                          <a:solidFill>
                            <a:srgbClr val="37474F"/>
                          </a:solidFill>
                          <a:latin typeface="Calibri"/>
                        </a:rPr>
                        <a:t>2.293.312.059</a:t>
                      </a:r>
                    </a:p>
                  </a:txBody>
                  <a:tcPr marL="88900" marR="88900" marT="38100" marB="38100" anchor="ctr"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FD8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PY" sz="1000" b="0">
                          <a:solidFill>
                            <a:srgbClr val="37474F"/>
                          </a:solidFill>
                          <a:latin typeface="Calibri"/>
                        </a:rPr>
                        <a:t>391.973</a:t>
                      </a:r>
                    </a:p>
                  </a:txBody>
                  <a:tcPr marL="88900" marR="88900" marT="38100" marB="38100" anchor="ctr"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FD8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0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Y" sz="1000" b="0" dirty="0">
                          <a:solidFill>
                            <a:srgbClr val="37474F"/>
                          </a:solidFill>
                          <a:latin typeface="Calibri"/>
                        </a:rPr>
                        <a:t>(+) Producción, compromisos y estimaciones (*)</a:t>
                      </a:r>
                    </a:p>
                  </a:txBody>
                  <a:tcPr marL="88900" marR="88900" marT="38100" marB="38100" anchor="ctr"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FD8DC"/>
                      </a:solidFill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PY" sz="1000" b="0" dirty="0">
                          <a:solidFill>
                            <a:srgbClr val="37474F"/>
                          </a:solidFill>
                          <a:latin typeface="Calibri"/>
                        </a:rPr>
                        <a:t>12.233.103.222</a:t>
                      </a:r>
                    </a:p>
                  </a:txBody>
                  <a:tcPr marL="88900" marR="88900" marT="38100" marB="38100" anchor="ctr"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FD8DC"/>
                      </a:solidFill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PY" sz="1000" b="0" dirty="0">
                          <a:solidFill>
                            <a:srgbClr val="37474F"/>
                          </a:solidFill>
                          <a:latin typeface="Calibri"/>
                        </a:rPr>
                        <a:t>2.090.882</a:t>
                      </a:r>
                    </a:p>
                  </a:txBody>
                  <a:tcPr marL="88900" marR="88900" marT="38100" marB="38100" anchor="ctr"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FD8DC"/>
                      </a:solidFill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0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Y" sz="1000" b="0" dirty="0">
                          <a:solidFill>
                            <a:srgbClr val="FF0000"/>
                          </a:solidFill>
                          <a:latin typeface="Calibri"/>
                        </a:rPr>
                        <a:t>(+) Gastos de funcionamiento · 7%</a:t>
                      </a:r>
                    </a:p>
                  </a:txBody>
                  <a:tcPr marL="88900" marR="88900" marT="38100" marB="38100" anchor="ctr"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FD8DC"/>
                      </a:solidFill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PY" sz="1000" b="0" dirty="0">
                          <a:solidFill>
                            <a:srgbClr val="FF0000"/>
                          </a:solidFill>
                          <a:latin typeface="Calibri"/>
                        </a:rPr>
                        <a:t>1.160.728.507</a:t>
                      </a:r>
                    </a:p>
                  </a:txBody>
                  <a:tcPr marL="88900" marR="88900" marT="38100" marB="38100" anchor="ctr"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FD8DC"/>
                      </a:solidFill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PY" sz="1000" b="0" dirty="0">
                          <a:solidFill>
                            <a:srgbClr val="FF0000"/>
                          </a:solidFill>
                          <a:latin typeface="Calibri"/>
                        </a:rPr>
                        <a:t>198.392</a:t>
                      </a:r>
                    </a:p>
                  </a:txBody>
                  <a:tcPr marL="88900" marR="88900" marT="38100" marB="38100" anchor="ctr"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FD8DC"/>
                      </a:solidFill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090560"/>
                  </a:ext>
                </a:extLst>
              </a:tr>
              <a:tr h="4590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Y" sz="1000" b="0" dirty="0">
                          <a:solidFill>
                            <a:srgbClr val="37474F"/>
                          </a:solidFill>
                          <a:latin typeface="Calibri"/>
                        </a:rPr>
                        <a:t>(+) Intereses de Implantación (Fondos Propios CIE S.A)</a:t>
                      </a:r>
                    </a:p>
                  </a:txBody>
                  <a:tcPr marL="88900" marR="88900" marT="38100" marB="38100" anchor="ctr"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FD8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PY" sz="1000" b="0">
                          <a:solidFill>
                            <a:srgbClr val="C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38100" marB="38100" anchor="ctr"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FD8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PY" sz="1000" b="0">
                          <a:solidFill>
                            <a:srgbClr val="C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38100" marB="38100" anchor="ctr"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FD8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0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Y" sz="1000" b="0" dirty="0">
                          <a:solidFill>
                            <a:srgbClr val="37474F"/>
                          </a:solidFill>
                          <a:latin typeface="Calibri"/>
                        </a:rPr>
                        <a:t>(+) Intereses de préstamos bancarios (9% plan de negocio)</a:t>
                      </a:r>
                    </a:p>
                  </a:txBody>
                  <a:tcPr marL="88900" marR="88900" marT="38100" marB="38100" anchor="ctr"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FD8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PY" sz="1000" b="0">
                          <a:solidFill>
                            <a:srgbClr val="37474F"/>
                          </a:solidFill>
                          <a:latin typeface="Calibri"/>
                        </a:rPr>
                        <a:t>2.055.420.531</a:t>
                      </a:r>
                    </a:p>
                  </a:txBody>
                  <a:tcPr marL="88900" marR="88900" marT="38100" marB="38100" anchor="ctr"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FD8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PY" sz="1000" b="0">
                          <a:solidFill>
                            <a:srgbClr val="37474F"/>
                          </a:solidFill>
                          <a:latin typeface="Calibri"/>
                        </a:rPr>
                        <a:t>351.313</a:t>
                      </a:r>
                    </a:p>
                  </a:txBody>
                  <a:tcPr marL="88900" marR="88900" marT="38100" marB="38100" anchor="ctr"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FD8D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086458"/>
                  </a:ext>
                </a:extLst>
              </a:tr>
              <a:tr h="4590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Y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(=) TOTAL</a:t>
                      </a:r>
                    </a:p>
                  </a:txBody>
                  <a:tcPr marL="88900" marR="88900" marT="38100" marB="38100" anchor="ctr"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FD8DC"/>
                      </a:solidFill>
                    </a:lnB>
                    <a:solidFill>
                      <a:srgbClr val="0F2B4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PY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17.742.564.318</a:t>
                      </a:r>
                    </a:p>
                  </a:txBody>
                  <a:tcPr marL="88900" marR="88900" marT="38100" marB="38100" anchor="ctr"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FD8DC"/>
                      </a:solidFill>
                    </a:lnB>
                    <a:solidFill>
                      <a:srgbClr val="0F2B4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PY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3.032.559</a:t>
                      </a:r>
                    </a:p>
                  </a:txBody>
                  <a:tcPr marL="88900" marR="88900" marT="38100" marB="38100" anchor="ctr"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FD8DC"/>
                      </a:solidFill>
                    </a:lnB>
                    <a:solidFill>
                      <a:srgbClr val="0F2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6197600" y="1301456"/>
            <a:ext cx="2489200" cy="321310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9" name="Text 4"/>
          <p:cNvSpPr/>
          <p:nvPr/>
        </p:nvSpPr>
        <p:spPr>
          <a:xfrm>
            <a:off x="6350000" y="1536700"/>
            <a:ext cx="218440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buNone/>
            </a:pPr>
            <a:r>
              <a:rPr lang="es-PY" sz="1400" b="1" dirty="0">
                <a:solidFill>
                  <a:srgbClr val="0D9488"/>
                </a:solidFill>
                <a:latin typeface="Calibri"/>
              </a:rPr>
              <a:t>(*) MOVIMIENTOS DE OCT-26</a:t>
            </a:r>
          </a:p>
        </p:txBody>
      </p:sp>
      <p:sp>
        <p:nvSpPr>
          <p:cNvPr id="101" name="Text 7"/>
          <p:cNvSpPr/>
          <p:nvPr/>
        </p:nvSpPr>
        <p:spPr>
          <a:xfrm>
            <a:off x="6350000" y="2006600"/>
            <a:ext cx="2184400" cy="600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>
              <a:buNone/>
            </a:pPr>
            <a:r>
              <a:rPr lang="es-PY" sz="2200" b="1" dirty="0">
                <a:solidFill>
                  <a:srgbClr val="0A1628"/>
                </a:solidFill>
                <a:latin typeface="Georgia"/>
              </a:rPr>
              <a:t>USD 179.778</a:t>
            </a:r>
          </a:p>
          <a:p>
            <a:pPr algn="l">
              <a:spcBef>
                <a:spcPts val="600"/>
              </a:spcBef>
              <a:buNone/>
            </a:pPr>
            <a:r>
              <a:rPr lang="es-PY" sz="1200" b="1" dirty="0">
                <a:solidFill>
                  <a:srgbClr val="0A1628"/>
                </a:solidFill>
                <a:latin typeface="Calibri"/>
              </a:rPr>
              <a:t>Gs 1.051.827.640</a:t>
            </a:r>
          </a:p>
        </p:txBody>
      </p:sp>
      <p:sp>
        <p:nvSpPr>
          <p:cNvPr id="102" name="Text 7"/>
          <p:cNvSpPr/>
          <p:nvPr/>
        </p:nvSpPr>
        <p:spPr>
          <a:xfrm>
            <a:off x="6350000" y="2768600"/>
            <a:ext cx="2184400" cy="150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>
              <a:buNone/>
            </a:pPr>
            <a:r>
              <a:rPr lang="es-PY" sz="1100" b="1" dirty="0">
                <a:solidFill>
                  <a:srgbClr val="37474F"/>
                </a:solidFill>
                <a:latin typeface="Calibri"/>
              </a:rPr>
              <a:t>Chapa CUMIC consumida</a:t>
            </a:r>
          </a:p>
          <a:p>
            <a:pPr algn="l">
              <a:spcAft>
                <a:spcPts val="550"/>
              </a:spcAft>
              <a:buNone/>
            </a:pPr>
            <a:r>
              <a:rPr lang="es-PY" sz="1100" b="0" dirty="0">
                <a:solidFill>
                  <a:srgbClr val="37474F"/>
                </a:solidFill>
                <a:latin typeface="Calibri"/>
              </a:rPr>
              <a:t>USD 169.810 (Gs 993.505.053), ya incluida en el pago a CUMIC de 2025.</a:t>
            </a:r>
          </a:p>
          <a:p>
            <a:pPr algn="l">
              <a:buNone/>
            </a:pPr>
            <a:r>
              <a:rPr lang="es-PY" sz="1100" b="1" dirty="0">
                <a:solidFill>
                  <a:srgbClr val="37474F"/>
                </a:solidFill>
                <a:latin typeface="Calibri"/>
              </a:rPr>
              <a:t>Mano de obra, gastos generales e IVA</a:t>
            </a:r>
          </a:p>
          <a:p>
            <a:pPr algn="l">
              <a:spcAft>
                <a:spcPts val="550"/>
              </a:spcAft>
              <a:buNone/>
            </a:pPr>
            <a:r>
              <a:rPr lang="es-PY" sz="1100" b="0" dirty="0">
                <a:solidFill>
                  <a:srgbClr val="37474F"/>
                </a:solidFill>
                <a:latin typeface="Calibri"/>
              </a:rPr>
              <a:t>USD 6.340 (Gs 37.092.404)</a:t>
            </a:r>
          </a:p>
          <a:p>
            <a:pPr algn="l">
              <a:buNone/>
            </a:pPr>
            <a:r>
              <a:rPr lang="es-PY" sz="1100" b="1" dirty="0">
                <a:solidFill>
                  <a:srgbClr val="37474F"/>
                </a:solidFill>
                <a:latin typeface="Calibri"/>
              </a:rPr>
              <a:t>Órdenes de compra a ejecutar</a:t>
            </a:r>
          </a:p>
          <a:p>
            <a:pPr algn="l">
              <a:spcAft>
                <a:spcPts val="550"/>
              </a:spcAft>
              <a:buNone/>
            </a:pPr>
            <a:r>
              <a:rPr lang="es-PY" sz="1100" b="0" dirty="0">
                <a:solidFill>
                  <a:srgbClr val="37474F"/>
                </a:solidFill>
                <a:latin typeface="Calibri"/>
              </a:rPr>
              <a:t>USD 3.629 (Gs 21.230.183)</a:t>
            </a:r>
          </a:p>
        </p:txBody>
      </p:sp>
      <p:sp>
        <p:nvSpPr>
          <p:cNvPr id="5" name="Nota resumen">
            <a:extLst>
              <a:ext uri="{FF2B5EF4-FFF2-40B4-BE49-F238E27FC236}">
                <a16:creationId xmlns:a16="http://schemas.microsoft.com/office/drawing/2014/main" id="{30CB9F82-B1F3-4EC6-B23F-152FB4889DD6}"/>
              </a:ext>
            </a:extLst>
          </p:cNvPr>
          <p:cNvSpPr txBox="1"/>
          <p:nvPr/>
        </p:nvSpPr>
        <p:spPr>
          <a:xfrm>
            <a:off x="457200" y="4622800"/>
            <a:ext cx="8229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s-PY" sz="1000" dirty="0">
              <a:solidFill>
                <a:srgbClr val="37474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3" name="Copied Picture 103">
            <a:extLst>
              <a:ext uri="{FF2B5EF4-FFF2-40B4-BE49-F238E27FC236}">
                <a16:creationId xmlns:a16="http://schemas.microsoft.com/office/drawing/2014/main" id="{9B085023-B01C-4923-AFBB-B15D9D081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0430" y="38100"/>
            <a:ext cx="1096190" cy="558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5738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anel préstamo 1">
            <a:extLst>
              <a:ext uri="{FF2B5EF4-FFF2-40B4-BE49-F238E27FC236}">
                <a16:creationId xmlns:a16="http://schemas.microsoft.com/office/drawing/2014/main" id="{3B871398-7168-2116-761D-FBD297EE3294}"/>
              </a:ext>
            </a:extLst>
          </p:cNvPr>
          <p:cNvSpPr/>
          <p:nvPr/>
        </p:nvSpPr>
        <p:spPr>
          <a:xfrm>
            <a:off x="6172200" y="1346200"/>
            <a:ext cx="2514600" cy="160020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14" name="Panel préstamo 2">
            <a:extLst>
              <a:ext uri="{FF2B5EF4-FFF2-40B4-BE49-F238E27FC236}">
                <a16:creationId xmlns:a16="http://schemas.microsoft.com/office/drawing/2014/main" id="{3B871398-7168-2116-761D-FBD297EE3294}"/>
              </a:ext>
            </a:extLst>
          </p:cNvPr>
          <p:cNvSpPr/>
          <p:nvPr/>
        </p:nvSpPr>
        <p:spPr>
          <a:xfrm>
            <a:off x="6172200" y="3098800"/>
            <a:ext cx="2514600" cy="17018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PY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27000"/>
            <a:ext cx="66548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2000" b="1">
                <a:solidFill>
                  <a:srgbClr val="FFFFFF"/>
                </a:solidFill>
                <a:latin typeface="Georgia"/>
              </a:rPr>
              <a:t>CIE RECUPERA PARA CANCELAR SU DEUDA</a:t>
            </a:r>
          </a:p>
        </p:txBody>
      </p:sp>
      <p:graphicFrame>
        <p:nvGraphicFramePr>
          <p:cNvPr id="5" name="Chart 0" descr="Chart"/>
          <p:cNvGraphicFramePr/>
          <p:nvPr/>
        </p:nvGraphicFramePr>
        <p:xfrm>
          <a:off x="365760" y="1346200"/>
          <a:ext cx="562864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927100"/>
            <a:ext cx="55880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200" b="1" dirty="0">
                <a:solidFill>
                  <a:srgbClr val="0A1628"/>
                </a:solidFill>
                <a:latin typeface="Calibri"/>
              </a:rPr>
              <a:t>FLUJO DE CAJA ACUMULADO | USD</a:t>
            </a:r>
          </a:p>
        </p:txBody>
      </p:sp>
      <p:sp>
        <p:nvSpPr>
          <p:cNvPr id="10" name="Préstamo 1 encabezado"/>
          <p:cNvSpPr/>
          <p:nvPr/>
        </p:nvSpPr>
        <p:spPr>
          <a:xfrm>
            <a:off x="6324600" y="1511300"/>
            <a:ext cx="220980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100" b="1">
                <a:solidFill>
                  <a:srgbClr val="C46313"/>
                </a:solidFill>
                <a:latin typeface="Calibri"/>
              </a:rPr>
              <a:t>PRÉSTAMO 1 · JULIO 2025</a:t>
            </a:r>
          </a:p>
        </p:txBody>
      </p:sp>
      <p:sp>
        <p:nvSpPr>
          <p:cNvPr id="11" name="Préstamo 1 plazo tasa e intereses"/>
          <p:cNvSpPr/>
          <p:nvPr/>
        </p:nvSpPr>
        <p:spPr>
          <a:xfrm>
            <a:off x="6324600" y="2222500"/>
            <a:ext cx="2209800" cy="50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100" b="0" dirty="0">
                <a:solidFill>
                  <a:srgbClr val="37474F"/>
                </a:solidFill>
                <a:latin typeface="Calibri"/>
              </a:rPr>
              <a:t>270 días | banco 7,85% · cobro 9% s/plan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100" b="0" dirty="0">
                <a:solidFill>
                  <a:srgbClr val="37474F"/>
                </a:solidFill>
                <a:latin typeface="Calibri"/>
              </a:rPr>
              <a:t>Vencimiento: 06/04/2026</a:t>
            </a:r>
          </a:p>
        </p:txBody>
      </p:sp>
      <p:sp>
        <p:nvSpPr>
          <p:cNvPr id="15" name="Préstamo 1 capital"/>
          <p:cNvSpPr/>
          <p:nvPr/>
        </p:nvSpPr>
        <p:spPr>
          <a:xfrm>
            <a:off x="6324600" y="1841500"/>
            <a:ext cx="22098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2000" b="1" dirty="0">
                <a:solidFill>
                  <a:srgbClr val="0A1628"/>
                </a:solidFill>
                <a:latin typeface="Georgia"/>
              </a:rPr>
              <a:t>USD 2.500.000</a:t>
            </a:r>
          </a:p>
        </p:txBody>
      </p:sp>
      <p:sp>
        <p:nvSpPr>
          <p:cNvPr id="16" name="Encabezado de los dos préstamos"/>
          <p:cNvSpPr/>
          <p:nvPr/>
        </p:nvSpPr>
        <p:spPr>
          <a:xfrm>
            <a:off x="6172200" y="927100"/>
            <a:ext cx="251460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100" b="1">
                <a:solidFill>
                  <a:srgbClr val="0A1628"/>
                </a:solidFill>
                <a:latin typeface="Calibri"/>
              </a:rPr>
              <a:t>PRÉSTAMOS TOMADOS POR CIE</a:t>
            </a:r>
          </a:p>
        </p:txBody>
      </p:sp>
      <p:sp>
        <p:nvSpPr>
          <p:cNvPr id="17" name="Préstamo 2 encabezado"/>
          <p:cNvSpPr/>
          <p:nvPr/>
        </p:nvSpPr>
        <p:spPr>
          <a:xfrm>
            <a:off x="6324600" y="3263900"/>
            <a:ext cx="220980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100" b="1" dirty="0">
                <a:solidFill>
                  <a:srgbClr val="0D9488"/>
                </a:solidFill>
                <a:latin typeface="Calibri"/>
              </a:rPr>
              <a:t>PRÉSTAMO 2 · RENOVACIÓN</a:t>
            </a:r>
          </a:p>
        </p:txBody>
      </p:sp>
      <p:sp>
        <p:nvSpPr>
          <p:cNvPr id="18" name="Préstamo 2 capital"/>
          <p:cNvSpPr/>
          <p:nvPr/>
        </p:nvSpPr>
        <p:spPr>
          <a:xfrm>
            <a:off x="6324600" y="3594100"/>
            <a:ext cx="22098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2000" b="1" dirty="0">
                <a:solidFill>
                  <a:srgbClr val="0A1628"/>
                </a:solidFill>
                <a:latin typeface="Georgia"/>
              </a:rPr>
              <a:t>USD 2.500.000</a:t>
            </a:r>
          </a:p>
        </p:txBody>
      </p:sp>
      <p:sp>
        <p:nvSpPr>
          <p:cNvPr id="19" name="Préstamo 2 plazo tasa e intereses"/>
          <p:cNvSpPr/>
          <p:nvPr/>
        </p:nvSpPr>
        <p:spPr>
          <a:xfrm>
            <a:off x="6324600" y="4013200"/>
            <a:ext cx="2209800" cy="50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100" dirty="0">
                <a:solidFill>
                  <a:srgbClr val="37474F"/>
                </a:solidFill>
                <a:latin typeface="Calibri"/>
              </a:rPr>
              <a:t>241 días | banco 6,50% · cobro 9% s/plan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100" b="0" dirty="0">
                <a:solidFill>
                  <a:srgbClr val="37474F"/>
                </a:solidFill>
                <a:latin typeface="Calibri"/>
              </a:rPr>
              <a:t>Vencimiento: 28/11/2026</a:t>
            </a:r>
          </a:p>
        </p:txBody>
      </p:sp>
      <p:sp>
        <p:nvSpPr>
          <p:cNvPr id="20" name="Préstamo junio"/>
          <p:cNvSpPr/>
          <p:nvPr/>
        </p:nvSpPr>
        <p:spPr>
          <a:xfrm>
            <a:off x="2209800" y="1664208"/>
            <a:ext cx="104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800" b="1" dirty="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PRÉSTAMO 1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800" b="1" dirty="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JULIO 2025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800" b="1" dirty="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USD 2.500.000</a:t>
            </a:r>
          </a:p>
        </p:txBody>
      </p:sp>
      <p:sp>
        <p:nvSpPr>
          <p:cNvPr id="9" name="Marca préstamo 2">
            <a:extLst>
              <a:ext uri="{FF2B5EF4-FFF2-40B4-BE49-F238E27FC236}">
                <a16:creationId xmlns:a16="http://schemas.microsoft.com/office/drawing/2014/main" id="{FC690BD0-3935-413E-B69F-457B41D4C3BE}"/>
              </a:ext>
            </a:extLst>
          </p:cNvPr>
          <p:cNvSpPr txBox="1"/>
          <p:nvPr/>
        </p:nvSpPr>
        <p:spPr>
          <a:xfrm>
            <a:off x="3606800" y="1938528"/>
            <a:ext cx="1143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PY" sz="800" b="1" dirty="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RENOVACIÓN</a:t>
            </a:r>
          </a:p>
          <a:p>
            <a:pPr algn="l"/>
            <a:r>
              <a:rPr lang="es-PY" sz="800" b="1" dirty="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ABRIL 2026</a:t>
            </a:r>
          </a:p>
          <a:p>
            <a:pPr algn="l"/>
            <a:r>
              <a:rPr lang="es-PY" sz="800" b="1" dirty="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USD 2.500.000</a:t>
            </a:r>
          </a:p>
        </p:txBody>
      </p:sp>
      <p:sp>
        <p:nvSpPr>
          <p:cNvPr id="13" name="Marca cobro">
            <a:extLst>
              <a:ext uri="{FF2B5EF4-FFF2-40B4-BE49-F238E27FC236}">
                <a16:creationId xmlns:a16="http://schemas.microsoft.com/office/drawing/2014/main" id="{E566E629-E92D-4FED-8651-CA9E9C2AB3FF}"/>
              </a:ext>
            </a:extLst>
          </p:cNvPr>
          <p:cNvSpPr txBox="1"/>
          <p:nvPr/>
        </p:nvSpPr>
        <p:spPr>
          <a:xfrm>
            <a:off x="4754880" y="3044952"/>
            <a:ext cx="1397000" cy="152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s-PY" sz="800" b="1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COBRO A ALIANZA · NOV-26</a:t>
            </a:r>
          </a:p>
        </p:txBody>
      </p:sp>
      <p:graphicFrame>
        <p:nvGraphicFramePr>
          <p:cNvPr id="21" name="Tabla acumulado">
            <a:extLst>
              <a:ext uri="{FF2B5EF4-FFF2-40B4-BE49-F238E27FC236}">
                <a16:creationId xmlns:a16="http://schemas.microsoft.com/office/drawing/2014/main" id="{2D2A15A5-0013-4F79-8675-ED38B6B00FB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241800"/>
          <a:ext cx="5461000" cy="584200"/>
        </p:xfrm>
        <a:graphic>
          <a:graphicData uri="http://schemas.openxmlformats.org/drawingml/2006/table">
            <a:tbl>
              <a:tblPr/>
              <a:tblGrid>
                <a:gridCol w="2413000">
                  <a:extLst>
                    <a:ext uri="{9D8B030D-6E8A-4147-A177-3AD203B41FA5}">
                      <a16:colId xmlns:a16="http://schemas.microsoft.com/office/drawing/2014/main" val="260977817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7584947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51743970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80540403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s-PY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ACUMULADO USD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Oct-26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Nov-26*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Ene-27*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29342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s-PY" sz="110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Saldo acumulado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1100" b="0" dirty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731.896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1100" b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(22.746)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1100" b="0" dirty="0">
                          <a:solidFill>
                            <a:srgbClr val="2E9E5B"/>
                          </a:solidFill>
                          <a:latin typeface="Calibri"/>
                          <a:ea typeface="Calibri"/>
                          <a:cs typeface="Calibri"/>
                        </a:rPr>
                        <a:t>19.511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814412"/>
                  </a:ext>
                </a:extLst>
              </a:tr>
            </a:tbl>
          </a:graphicData>
        </a:graphic>
      </p:graphicFrame>
      <p:pic>
        <p:nvPicPr>
          <p:cNvPr id="22" name="Copied Picture 22">
            <a:extLst>
              <a:ext uri="{FF2B5EF4-FFF2-40B4-BE49-F238E27FC236}">
                <a16:creationId xmlns:a16="http://schemas.microsoft.com/office/drawing/2014/main" id="{9B085023-B01C-4923-AFBB-B15D9D0814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0430" y="38100"/>
            <a:ext cx="1096190" cy="558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17703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PY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27000"/>
            <a:ext cx="66548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ES" sz="2000" b="1">
                <a:solidFill>
                  <a:srgbClr val="FFFFFF"/>
                </a:solidFill>
                <a:latin typeface="Georgia"/>
              </a:rPr>
              <a:t>EVOLUCIÓN DEL TIPO DE CAMBIO</a:t>
            </a:r>
            <a:endParaRPr lang="es-PY" sz="2000" b="1" dirty="0">
              <a:solidFill>
                <a:srgbClr val="FFFFFF"/>
              </a:solidFill>
              <a:latin typeface="Georgia"/>
            </a:endParaRPr>
          </a:p>
        </p:txBody>
      </p:sp>
      <p:graphicFrame>
        <p:nvGraphicFramePr>
          <p:cNvPr id="5" name="Chart 0" descr="Chart"/>
          <p:cNvGraphicFramePr/>
          <p:nvPr>
            <p:extLst>
              <p:ext uri="{D42A27DB-BD31-4B8C-83A1-F6EECF244321}">
                <p14:modId xmlns:p14="http://schemas.microsoft.com/office/powerpoint/2010/main" val="956155548"/>
              </p:ext>
            </p:extLst>
          </p:nvPr>
        </p:nvGraphicFramePr>
        <p:xfrm>
          <a:off x="365760" y="1346200"/>
          <a:ext cx="4191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927100"/>
            <a:ext cx="41910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200" b="1">
                <a:solidFill>
                  <a:srgbClr val="0A1628"/>
                </a:solidFill>
                <a:latin typeface="Calibri"/>
              </a:rPr>
              <a:t>TIPO DE CAMBIO BCP POR MES | Gs por USD</a:t>
            </a:r>
          </a:p>
        </p:txBody>
      </p:sp>
      <p:sp>
        <p:nvSpPr>
          <p:cNvPr id="16" name="Encabezado de los dos préstamos"/>
          <p:cNvSpPr/>
          <p:nvPr/>
        </p:nvSpPr>
        <p:spPr>
          <a:xfrm>
            <a:off x="4775605" y="927100"/>
            <a:ext cx="396240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s-PY" sz="1100" b="1" dirty="0">
                <a:solidFill>
                  <a:srgbClr val="0A1628"/>
                </a:solidFill>
                <a:latin typeface="Calibri"/>
              </a:rPr>
              <a:t>RECUPERO SEGÚN TIPO DE CAMBIO · USD</a:t>
            </a:r>
          </a:p>
        </p:txBody>
      </p:sp>
      <p:graphicFrame>
        <p:nvGraphicFramePr>
          <p:cNvPr id="21" name="Tabla acumulado">
            <a:extLst>
              <a:ext uri="{FF2B5EF4-FFF2-40B4-BE49-F238E27FC236}">
                <a16:creationId xmlns:a16="http://schemas.microsoft.com/office/drawing/2014/main" id="{2D2A15A5-0013-4F79-8675-ED38B6B00FB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241800"/>
          <a:ext cx="4191000" cy="584200"/>
        </p:xfrm>
        <a:graphic>
          <a:graphicData uri="http://schemas.openxmlformats.org/drawingml/2006/table">
            <a:tbl>
              <a:tblPr/>
              <a:tblGrid>
                <a:gridCol w="1851837">
                  <a:extLst>
                    <a:ext uri="{9D8B030D-6E8A-4147-A177-3AD203B41FA5}">
                      <a16:colId xmlns:a16="http://schemas.microsoft.com/office/drawing/2014/main" val="2609778174"/>
                    </a:ext>
                  </a:extLst>
                </a:gridCol>
                <a:gridCol w="779720">
                  <a:extLst>
                    <a:ext uri="{9D8B030D-6E8A-4147-A177-3AD203B41FA5}">
                      <a16:colId xmlns:a16="http://schemas.microsoft.com/office/drawing/2014/main" val="375849475"/>
                    </a:ext>
                  </a:extLst>
                </a:gridCol>
                <a:gridCol w="779720">
                  <a:extLst>
                    <a:ext uri="{9D8B030D-6E8A-4147-A177-3AD203B41FA5}">
                      <a16:colId xmlns:a16="http://schemas.microsoft.com/office/drawing/2014/main" val="1517439707"/>
                    </a:ext>
                  </a:extLst>
                </a:gridCol>
                <a:gridCol w="779723">
                  <a:extLst>
                    <a:ext uri="{9D8B030D-6E8A-4147-A177-3AD203B41FA5}">
                      <a16:colId xmlns:a16="http://schemas.microsoft.com/office/drawing/2014/main" val="1780540403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s-PY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TC BCP · Gs por USD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Nov-24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Sep-26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Oct-26*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29342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s-PY" sz="110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Tipo de cambio del mes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110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7.798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110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5.834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1100" b="0" dirty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5.851</a:t>
                      </a:r>
                    </a:p>
                  </a:txBody>
                  <a:tcPr marT="19050" marB="190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814412"/>
                  </a:ext>
                </a:extLst>
              </a:tr>
            </a:tbl>
          </a:graphicData>
        </a:graphic>
      </p:graphicFrame>
      <p:graphicFrame>
        <p:nvGraphicFramePr>
          <p:cNvPr id="11" name="Comparativo TC">
            <a:extLst>
              <a:ext uri="{FF2B5EF4-FFF2-40B4-BE49-F238E27FC236}">
                <a16:creationId xmlns:a16="http://schemas.microsoft.com/office/drawing/2014/main" id="{8C56272B-0922-41CE-8A84-433E371E0B3D}"/>
              </a:ext>
            </a:extLst>
          </p:cNvPr>
          <p:cNvGraphicFramePr>
            <a:graphicFrameLocks noGrp="1"/>
          </p:cNvGraphicFramePr>
          <p:nvPr/>
        </p:nvGraphicFramePr>
        <p:xfrm>
          <a:off x="4768290" y="1533350"/>
          <a:ext cx="3962400" cy="2519680"/>
        </p:xfrm>
        <a:graphic>
          <a:graphicData uri="http://schemas.openxmlformats.org/drawingml/2006/table">
            <a:tbl>
              <a:tblPr/>
              <a:tblGrid>
                <a:gridCol w="1498600">
                  <a:extLst>
                    <a:ext uri="{9D8B030D-6E8A-4147-A177-3AD203B41FA5}">
                      <a16:colId xmlns:a16="http://schemas.microsoft.com/office/drawing/2014/main" val="878376678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78605530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3977114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603904679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s-PY" sz="85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CONCEPTO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85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TC CIERRE A OCT-26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TC FLUJO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DIF.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7747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(+) Implantación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391.973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312.290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 dirty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+79.683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34047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(+) Producción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2.090.882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2.086.815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+4.067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822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s-PY" sz="850" b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(+) Gastos de funcionamiento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198.392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198.392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6692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(+) Intereses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351.313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351.313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34889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s-PY" sz="850" b="1">
                          <a:solidFill>
                            <a:srgbClr val="0A1628"/>
                          </a:solidFill>
                          <a:latin typeface="Calibri"/>
                          <a:ea typeface="Calibri"/>
                          <a:cs typeface="Calibri"/>
                        </a:rPr>
                        <a:t>(=) Total incurrido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3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1" dirty="0">
                          <a:solidFill>
                            <a:srgbClr val="0A1628"/>
                          </a:solidFill>
                          <a:latin typeface="Calibri"/>
                          <a:ea typeface="Calibri"/>
                          <a:cs typeface="Calibri"/>
                        </a:rPr>
                        <a:t>3.032.559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3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1">
                          <a:solidFill>
                            <a:srgbClr val="0A1628"/>
                          </a:solidFill>
                          <a:latin typeface="Calibri"/>
                          <a:ea typeface="Calibri"/>
                          <a:cs typeface="Calibri"/>
                        </a:rPr>
                        <a:t>2.948.809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3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1">
                          <a:solidFill>
                            <a:srgbClr val="0A1628"/>
                          </a:solidFill>
                          <a:latin typeface="Calibri"/>
                          <a:ea typeface="Calibri"/>
                          <a:cs typeface="Calibri"/>
                        </a:rPr>
                        <a:t>+83.750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7062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(−) Ventas de Alianza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 dirty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(837.080)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(813.140)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(23.940)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80542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(−) Aporte de capital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 dirty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(332.098)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(332.098)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 dirty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58698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s-PY" sz="8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(=) RECUPERO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1.863.381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1.803.572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+59.810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444726"/>
                  </a:ext>
                </a:extLst>
              </a:tr>
            </a:tbl>
          </a:graphicData>
        </a:graphic>
      </p:graphicFrame>
      <p:sp>
        <p:nvSpPr>
          <p:cNvPr id="9" name="Card explicacion TC">
            <a:extLst>
              <a:ext uri="{FF2B5EF4-FFF2-40B4-BE49-F238E27FC236}">
                <a16:creationId xmlns:a16="http://schemas.microsoft.com/office/drawing/2014/main" id="{E8EAA51D-B3D3-4472-8730-3F4E153D93CF}"/>
              </a:ext>
            </a:extLst>
          </p:cNvPr>
          <p:cNvSpPr/>
          <p:nvPr/>
        </p:nvSpPr>
        <p:spPr>
          <a:xfrm>
            <a:off x="4768290" y="4089400"/>
            <a:ext cx="3962400" cy="660400"/>
          </a:xfrm>
          <a:prstGeom prst="rect">
            <a:avLst/>
          </a:prstGeom>
          <a:solidFill>
            <a:srgbClr val="E3F2F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10" name="Cap explicacion TC">
            <a:extLst>
              <a:ext uri="{FF2B5EF4-FFF2-40B4-BE49-F238E27FC236}">
                <a16:creationId xmlns:a16="http://schemas.microsoft.com/office/drawing/2014/main" id="{5011B0B1-3F2D-47FB-8573-866B6200A017}"/>
              </a:ext>
            </a:extLst>
          </p:cNvPr>
          <p:cNvSpPr txBox="1"/>
          <p:nvPr/>
        </p:nvSpPr>
        <p:spPr>
          <a:xfrm>
            <a:off x="4895290" y="4140200"/>
            <a:ext cx="37084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" sz="85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¿POR QUÉ SUBE EL RECUPERO EN DÓLARES?</a:t>
            </a:r>
            <a:endParaRPr lang="es-PY" sz="850" b="1">
              <a:solidFill>
                <a:srgbClr val="0D94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o explicacion TC">
            <a:extLst>
              <a:ext uri="{FF2B5EF4-FFF2-40B4-BE49-F238E27FC236}">
                <a16:creationId xmlns:a16="http://schemas.microsoft.com/office/drawing/2014/main" id="{BD828FCC-6603-405D-8F9A-4A6566E5BAEF}"/>
              </a:ext>
            </a:extLst>
          </p:cNvPr>
          <p:cNvSpPr txBox="1"/>
          <p:nvPr/>
        </p:nvSpPr>
        <p:spPr>
          <a:xfrm>
            <a:off x="4895290" y="4305300"/>
            <a:ext cx="3708400" cy="419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" sz="85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El guaraní se apreció: el TC bajó de 7.798 a 5.851 Gs/USD (−25%). Los mismos guaraníes invertidos equivalen hoy a más dólares, por eso el recupero es USD 59.810 mayor al TC de cierre.</a:t>
            </a:r>
            <a:endParaRPr lang="es-PY" sz="850">
              <a:solidFill>
                <a:srgbClr val="37474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2" name="Copied Picture 22">
            <a:extLst>
              <a:ext uri="{FF2B5EF4-FFF2-40B4-BE49-F238E27FC236}">
                <a16:creationId xmlns:a16="http://schemas.microsoft.com/office/drawing/2014/main" id="{9B085023-B01C-4923-AFBB-B15D9D0814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0430" y="38100"/>
            <a:ext cx="1096190" cy="558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464620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C53C-1D71-8C62-BFD5-84392997A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rd recomendacion">
            <a:extLst>
              <a:ext uri="{FF2B5EF4-FFF2-40B4-BE49-F238E27FC236}">
                <a16:creationId xmlns:a16="http://schemas.microsoft.com/office/drawing/2014/main" id="{537A8239-5159-4BE1-B6B3-4D7A2466AF02}"/>
              </a:ext>
            </a:extLst>
          </p:cNvPr>
          <p:cNvSpPr/>
          <p:nvPr/>
        </p:nvSpPr>
        <p:spPr>
          <a:xfrm>
            <a:off x="812800" y="3429000"/>
            <a:ext cx="3810000" cy="1325880"/>
          </a:xfrm>
          <a:prstGeom prst="rect">
            <a:avLst/>
          </a:prstGeom>
          <a:solidFill>
            <a:srgbClr val="E3F2F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09D05693-7228-52A6-8ACC-CBF6834F5728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788BE58-B7DE-D496-44C7-930789E853A4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D45C1C2-61BE-96D9-D213-39A5598E8DA6}"/>
              </a:ext>
            </a:extLst>
          </p:cNvPr>
          <p:cNvSpPr/>
          <p:nvPr/>
        </p:nvSpPr>
        <p:spPr>
          <a:xfrm>
            <a:off x="457200" y="1358900"/>
            <a:ext cx="73152" cy="2286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E5A1DC5-4A13-85C0-F4B7-47EBF343E909}"/>
              </a:ext>
            </a:extLst>
          </p:cNvPr>
          <p:cNvSpPr/>
          <p:nvPr/>
        </p:nvSpPr>
        <p:spPr>
          <a:xfrm>
            <a:off x="812800" y="495300"/>
            <a:ext cx="64135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PY" sz="2000" b="1">
                <a:solidFill>
                  <a:srgbClr val="0A1628"/>
                </a:solidFill>
                <a:latin typeface="Georgia"/>
              </a:rPr>
              <a:t>FACTURACIÓN A ALIANZA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7773CCE-BE8F-3EA9-6FAA-69B0C33BFC63}"/>
              </a:ext>
            </a:extLst>
          </p:cNvPr>
          <p:cNvSpPr/>
          <p:nvPr/>
        </p:nvSpPr>
        <p:spPr>
          <a:xfrm>
            <a:off x="812800" y="1016000"/>
            <a:ext cx="7874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PY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257CC24-7CF7-400A-ACE5-C86C79CCD388}"/>
              </a:ext>
            </a:extLst>
          </p:cNvPr>
          <p:cNvSpPr txBox="1"/>
          <p:nvPr/>
        </p:nvSpPr>
        <p:spPr>
          <a:xfrm>
            <a:off x="812800" y="1397000"/>
            <a:ext cx="381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0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DEL TOTAL INFORMADO A LO FACTURABLE</a:t>
            </a:r>
            <a:endParaRPr lang="es-PY" sz="1000" b="1">
              <a:solidFill>
                <a:srgbClr val="0D94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Cap facturas">
            <a:extLst>
              <a:ext uri="{FF2B5EF4-FFF2-40B4-BE49-F238E27FC236}">
                <a16:creationId xmlns:a16="http://schemas.microsoft.com/office/drawing/2014/main" id="{0B75D6C7-F411-41CC-9EAE-C1FCB5C404BB}"/>
              </a:ext>
            </a:extLst>
          </p:cNvPr>
          <p:cNvSpPr txBox="1"/>
          <p:nvPr/>
        </p:nvSpPr>
        <p:spPr>
          <a:xfrm>
            <a:off x="4927600" y="1397000"/>
            <a:ext cx="37592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pt-BR" sz="10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FACTURAS A EMITIR A ALIANZA</a:t>
            </a:r>
            <a:endParaRPr lang="es-PY" sz="1000" b="1">
              <a:solidFill>
                <a:srgbClr val="0D9488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3" name="Facturas a emitir">
            <a:extLst>
              <a:ext uri="{FF2B5EF4-FFF2-40B4-BE49-F238E27FC236}">
                <a16:creationId xmlns:a16="http://schemas.microsoft.com/office/drawing/2014/main" id="{A56689D8-2F80-428F-A9BD-B7E0EFDFB28E}"/>
              </a:ext>
            </a:extLst>
          </p:cNvPr>
          <p:cNvGraphicFramePr>
            <a:graphicFrameLocks noGrp="1"/>
          </p:cNvGraphicFramePr>
          <p:nvPr/>
        </p:nvGraphicFramePr>
        <p:xfrm>
          <a:off x="4927600" y="1651000"/>
          <a:ext cx="3759200" cy="1971040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1393455151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164160655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64981168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s-PY" sz="8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CONCEPTO A FACTURAR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GUARANÍES (Gs)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USD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15641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s-PY" sz="850" b="0" dirty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Implantación y equipos (neto de aporte)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350.312.059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59.875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84808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Gastos de producción (neto de ventas)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7.335.606.295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1.253.802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8336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s-PY" sz="850" b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Gastos de funcionamiento · 7%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1.160.728.507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198.392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38993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Intereses bancarios (9% plan)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2.055.420.531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351.313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66886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s-PY" sz="850" b="0" dirty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Intereses de Implantación (fondos propios)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31499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s-PY" sz="8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(=) TOTAL A FACTURAR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10.902.067.391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1.863.381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839758"/>
                  </a:ext>
                </a:extLst>
              </a:tr>
            </a:tbl>
          </a:graphicData>
        </a:graphic>
      </p:graphicFrame>
      <p:sp>
        <p:nvSpPr>
          <p:cNvPr id="16" name="Cap recomendacion">
            <a:extLst>
              <a:ext uri="{FF2B5EF4-FFF2-40B4-BE49-F238E27FC236}">
                <a16:creationId xmlns:a16="http://schemas.microsoft.com/office/drawing/2014/main" id="{64B9411C-EE08-419B-A3AE-2525A22CDBBC}"/>
              </a:ext>
            </a:extLst>
          </p:cNvPr>
          <p:cNvSpPr txBox="1"/>
          <p:nvPr/>
        </p:nvSpPr>
        <p:spPr>
          <a:xfrm>
            <a:off x="990600" y="3581400"/>
            <a:ext cx="34544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s-PY" sz="10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RECOMENDACIÓN DE FACTURACIÓN</a:t>
            </a:r>
          </a:p>
        </p:txBody>
      </p:sp>
      <p:sp>
        <p:nvSpPr>
          <p:cNvPr id="17" name="Texto recomendacion">
            <a:extLst>
              <a:ext uri="{FF2B5EF4-FFF2-40B4-BE49-F238E27FC236}">
                <a16:creationId xmlns:a16="http://schemas.microsoft.com/office/drawing/2014/main" id="{C5A2DF62-1907-458A-9866-FDC37375D0BD}"/>
              </a:ext>
            </a:extLst>
          </p:cNvPr>
          <p:cNvSpPr txBox="1"/>
          <p:nvPr/>
        </p:nvSpPr>
        <p:spPr>
          <a:xfrm>
            <a:off x="990600" y="3835400"/>
            <a:ext cx="3454400" cy="86868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" sz="900" dirty="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Facturar en guaraníes los costos pagados en guaraníes y convertir al TC de la fecha de pago: facturarlos a los dólares del flujo dejaría una pérdida de USD 59.810, porque el TC bajó de 7.798 a 5.851. La chapa CUMIC (USD 1,91 M) y los intereses se pagaron en dólares y el préstamo vence en USD el 28/11/2026: facturar esa parte en USD evita el riesgo de TC hasta el cobro.</a:t>
            </a:r>
            <a:endParaRPr lang="es-PY" sz="900" dirty="0">
              <a:solidFill>
                <a:srgbClr val="37474F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1" name="Puente facturable">
            <a:extLst>
              <a:ext uri="{FF2B5EF4-FFF2-40B4-BE49-F238E27FC236}">
                <a16:creationId xmlns:a16="http://schemas.microsoft.com/office/drawing/2014/main" id="{AD9EEC83-D796-44B9-80CC-A793721889D7}"/>
              </a:ext>
            </a:extLst>
          </p:cNvPr>
          <p:cNvGraphicFramePr>
            <a:graphicFrameLocks noGrp="1"/>
          </p:cNvGraphicFramePr>
          <p:nvPr/>
        </p:nvGraphicFramePr>
        <p:xfrm>
          <a:off x="812800" y="1651000"/>
          <a:ext cx="3810000" cy="1397000"/>
        </p:xfrm>
        <a:graphic>
          <a:graphicData uri="http://schemas.openxmlformats.org/drawingml/2006/table">
            <a:tbl>
              <a:tblPr/>
              <a:tblGrid>
                <a:gridCol w="1727200">
                  <a:extLst>
                    <a:ext uri="{9D8B030D-6E8A-4147-A177-3AD203B41FA5}">
                      <a16:colId xmlns:a16="http://schemas.microsoft.com/office/drawing/2014/main" val="3132532138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332039723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88458204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s-PY" sz="8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CONCEPTO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GUARANÍES (Gs)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USD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75877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Total informado por CIE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17.742.564.318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 dirty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3.032.559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75824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s-PY" sz="850" b="0" dirty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(−) Ventas de Alianza (facturación)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 dirty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(4.897.496.927)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 dirty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(837.080)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48500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s-PY" sz="850" b="0" dirty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(−) Aporte de CIE en especie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(1.943.000.000)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0" dirty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(332.098)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057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s-PY" sz="8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(=) SALDO A RECUPERAR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10.902.067.391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85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1.863.381</a:t>
                      </a:r>
                    </a:p>
                  </a:txBody>
                  <a:tcPr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589163"/>
                  </a:ext>
                </a:extLst>
              </a:tr>
            </a:tbl>
          </a:graphicData>
        </a:graphic>
      </p:graphicFrame>
      <p:pic>
        <p:nvPicPr>
          <p:cNvPr id="18" name="Copied Picture 18">
            <a:extLst>
              <a:ext uri="{FF2B5EF4-FFF2-40B4-BE49-F238E27FC236}">
                <a16:creationId xmlns:a16="http://schemas.microsoft.com/office/drawing/2014/main" id="{9B085023-B01C-4923-AFBB-B15D9D081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343" y="342900"/>
            <a:ext cx="1046363" cy="533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646186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PY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27000"/>
            <a:ext cx="66548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>
              <a:buNone/>
            </a:pPr>
            <a:r>
              <a:rPr lang="es-PY" sz="2000" b="1">
                <a:solidFill>
                  <a:srgbClr val="FFFFFF"/>
                </a:solidFill>
                <a:latin typeface="Georgia"/>
              </a:rPr>
              <a:t>APORTE DE CAPITAL CIE: Gs 1.945.000.000</a:t>
            </a:r>
            <a:endParaRPr lang="es-PY" sz="2000" b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6" name="Text 2"/>
          <p:cNvSpPr/>
          <p:nvPr/>
        </p:nvSpPr>
        <p:spPr>
          <a:xfrm>
            <a:off x="457200" y="914400"/>
            <a:ext cx="82296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>
              <a:buNone/>
            </a:pPr>
            <a:r>
              <a:rPr lang="es-PY" sz="1200" b="0" dirty="0">
                <a:solidFill>
                  <a:srgbClr val="37474F"/>
                </a:solidFill>
                <a:latin typeface="Calibri"/>
              </a:rPr>
              <a:t>Aporte en especie deducido del monto a facturar, más el aporte en efectivo a realizar una vez cobrado el saldo.</a:t>
            </a:r>
          </a:p>
        </p:txBody>
      </p:sp>
      <p:sp>
        <p:nvSpPr>
          <p:cNvPr id="8" name="Shape 3"/>
          <p:cNvSpPr/>
          <p:nvPr/>
        </p:nvSpPr>
        <p:spPr>
          <a:xfrm>
            <a:off x="6197600" y="1219200"/>
            <a:ext cx="2489200" cy="372110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s-PY"/>
          </a:p>
        </p:txBody>
      </p:sp>
      <p:sp>
        <p:nvSpPr>
          <p:cNvPr id="9" name="Text 4"/>
          <p:cNvSpPr/>
          <p:nvPr/>
        </p:nvSpPr>
        <p:spPr>
          <a:xfrm>
            <a:off x="6350000" y="1371600"/>
            <a:ext cx="2184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buNone/>
            </a:pPr>
            <a:r>
              <a:rPr lang="es-PY" sz="1000" b="1" dirty="0">
                <a:solidFill>
                  <a:srgbClr val="0D9488"/>
                </a:solidFill>
                <a:latin typeface="Calibri"/>
              </a:rPr>
              <a:t>COMPOSICIÓN DEL APORTE</a:t>
            </a:r>
          </a:p>
        </p:txBody>
      </p:sp>
      <p:sp>
        <p:nvSpPr>
          <p:cNvPr id="101" name="Text 7"/>
          <p:cNvSpPr/>
          <p:nvPr/>
        </p:nvSpPr>
        <p:spPr>
          <a:xfrm>
            <a:off x="6350000" y="1651000"/>
            <a:ext cx="2184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>
              <a:buNone/>
            </a:pPr>
            <a:r>
              <a:rPr lang="es-PY" sz="1700" b="1" dirty="0">
                <a:solidFill>
                  <a:srgbClr val="0A1628"/>
                </a:solidFill>
                <a:latin typeface="Georgia"/>
              </a:rPr>
              <a:t>Gs 1.945.000.000</a:t>
            </a:r>
          </a:p>
          <a:p>
            <a:pPr algn="l">
              <a:spcBef>
                <a:spcPts val="600"/>
              </a:spcBef>
              <a:buNone/>
            </a:pPr>
            <a:r>
              <a:rPr lang="es-PY" sz="1100" b="1" dirty="0">
                <a:solidFill>
                  <a:srgbClr val="0A1628"/>
                </a:solidFill>
                <a:latin typeface="Calibri"/>
              </a:rPr>
              <a:t>USD 332.439</a:t>
            </a:r>
          </a:p>
        </p:txBody>
      </p:sp>
      <p:sp>
        <p:nvSpPr>
          <p:cNvPr id="102" name="Text 7"/>
          <p:cNvSpPr/>
          <p:nvPr/>
        </p:nvSpPr>
        <p:spPr>
          <a:xfrm>
            <a:off x="6350000" y="2336800"/>
            <a:ext cx="2184400" cy="707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>
              <a:buNone/>
            </a:pPr>
            <a:r>
              <a:rPr lang="es-PY" sz="900" b="0" dirty="0">
                <a:solidFill>
                  <a:srgbClr val="37474F"/>
                </a:solidFill>
                <a:latin typeface="Calibri"/>
              </a:rPr>
              <a:t>Aporte en especie · Gs 1.943.000.000</a:t>
            </a:r>
          </a:p>
          <a:p>
            <a:pPr algn="l">
              <a:spcAft>
                <a:spcPts val="550"/>
              </a:spcAft>
              <a:buNone/>
            </a:pPr>
            <a:r>
              <a:rPr lang="es-PY" sz="900" b="0" dirty="0">
                <a:solidFill>
                  <a:srgbClr val="37474F"/>
                </a:solidFill>
                <a:latin typeface="Calibri"/>
              </a:rPr>
              <a:t>(USD 332.098, deducido del saldo)</a:t>
            </a:r>
          </a:p>
          <a:p>
            <a:pPr algn="l">
              <a:spcAft>
                <a:spcPts val="550"/>
              </a:spcAft>
              <a:buNone/>
            </a:pPr>
            <a:r>
              <a:rPr lang="es-PY" sz="900" b="0" dirty="0">
                <a:solidFill>
                  <a:srgbClr val="37474F"/>
                </a:solidFill>
                <a:latin typeface="Calibri"/>
              </a:rPr>
              <a:t>Aporte en efectivo · Gs 2.000.000</a:t>
            </a:r>
          </a:p>
          <a:p>
            <a:pPr algn="l">
              <a:spcAft>
                <a:spcPts val="550"/>
              </a:spcAft>
              <a:buNone/>
            </a:pPr>
            <a:r>
              <a:rPr lang="es-PY" sz="900" b="0" dirty="0">
                <a:solidFill>
                  <a:srgbClr val="37474F"/>
                </a:solidFill>
                <a:latin typeface="Calibri"/>
              </a:rPr>
              <a:t>(USD 342, una vez cobrado)</a:t>
            </a:r>
          </a:p>
        </p:txBody>
      </p:sp>
      <p:graphicFrame>
        <p:nvGraphicFramePr>
          <p:cNvPr id="13" name="Bienes aportados">
            <a:extLst>
              <a:ext uri="{FF2B5EF4-FFF2-40B4-BE49-F238E27FC236}">
                <a16:creationId xmlns:a16="http://schemas.microsoft.com/office/drawing/2014/main" id="{5C9854CC-734B-4CA6-9199-E7045A217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352241"/>
              </p:ext>
            </p:extLst>
          </p:nvPr>
        </p:nvGraphicFramePr>
        <p:xfrm>
          <a:off x="457200" y="1219200"/>
          <a:ext cx="5588000" cy="3622025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25424914"/>
                    </a:ext>
                  </a:extLst>
                </a:gridCol>
                <a:gridCol w="3098800">
                  <a:extLst>
                    <a:ext uri="{9D8B030D-6E8A-4147-A177-3AD203B41FA5}">
                      <a16:colId xmlns:a16="http://schemas.microsoft.com/office/drawing/2014/main" val="3157845253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204231097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842580923"/>
                    </a:ext>
                  </a:extLst>
                </a:gridCol>
              </a:tblGrid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ACTIVO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DESCRIPCIÓN DEL BIEN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ADQUISICIÓN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VALOR (Gs)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256516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30001393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Perfiladora tabica, espesor 0,38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05/12/2024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227.716.964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690139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30001394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Perfiladora omega, espesor 0,65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05/12/2024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135.714.458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638603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30001395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Perfiladora drywall, espesor 0,43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05/12/2024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324.180.671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736452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30001396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Perfiladora cantonera, espesor 0,40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05/12/2024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128.122.588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200952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30001397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Perfiladora F530, espesor 0,40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05/12/2024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148.550.197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451663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30001398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Máquina de embalaje (embala 100%)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05/12/2024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134.383.924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092421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30001398-1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Máquina de embalaje (complemento)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24/01/2025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11.878.440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942889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50008015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Paletera hidráulica manual 2,5 ton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05/03/2026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2.680.909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607957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60000223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Montacargas 3,5 ton diésel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01/04/2026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85.017.505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113098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80000536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Aire split 12.000 BTU Goodweather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12/11/2024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2.600.000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686263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88001208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PC Intel Core i7-9700 16 GB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12/12/2019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5.038.036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848584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88001427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Monitor Samsung 22" S22F350FHL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0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17/04/2017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592.145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117679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88002537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Notebook HP Omen 16 Ryzen 9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12/11/2025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13.484.418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742812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88002569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PC Intel Core i7-14700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18/02/2026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7.254.506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377793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88002570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PC Intel Core i7-14700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18/02/2026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7.254.506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177818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88002574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PC Intel Core i7-14700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18/02/2026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9.330.595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360980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88002581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Monitor Samsung 22" LS22D300 FHD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18/02/2026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713.656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986648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88002682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Kit WiFi Starlink V4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12/06/2026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2.726.364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19393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Gasto impl.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Instalaciones eléctricas de planta (9 órdenes)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245.193.256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439914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Gasto impl.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Red de aire comprimido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10.765.454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771803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Gasto impl.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Impresora etiquetadora Argox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1.791.555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92466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Gasto impl.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Adecuaciones e infraestructura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287.238.199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860794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Maq. perfiladora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Flete de máquina perfiladora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150.771.654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370344"/>
                  </a:ext>
                </a:extLst>
              </a:tr>
              <a:tr h="144881">
                <a:tc>
                  <a:txBody>
                    <a:bodyPr/>
                    <a:lstStyle/>
                    <a:p>
                      <a:pPr algn="l"/>
                      <a:r>
                        <a:rPr lang="es-PY" sz="72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TOTAL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>
                      <a:noFill/>
                    </a:lnT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PY" sz="72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23 partidas · aporte en especie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>
                      <a:noFill/>
                    </a:lnT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Y" sz="72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6350" marB="6350" anchor="ctr">
                    <a:lnL w="0"/>
                    <a:lnR w="0"/>
                    <a:lnT w="0">
                      <a:noFill/>
                    </a:lnT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72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1.943.000.000</a:t>
                      </a:r>
                    </a:p>
                  </a:txBody>
                  <a:tcPr marL="50800" marR="50800" marT="6350" marB="6350" anchor="ctr">
                    <a:lnL w="0"/>
                    <a:lnR w="0"/>
                    <a:lnT w="0">
                      <a:noFill/>
                    </a:lnT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525086"/>
                  </a:ext>
                </a:extLst>
              </a:tr>
            </a:tbl>
          </a:graphicData>
        </a:graphic>
      </p:graphicFrame>
      <p:pic>
        <p:nvPicPr>
          <p:cNvPr id="103" name="Copied Picture 103">
            <a:extLst>
              <a:ext uri="{FF2B5EF4-FFF2-40B4-BE49-F238E27FC236}">
                <a16:creationId xmlns:a16="http://schemas.microsoft.com/office/drawing/2014/main" id="{9B085023-B01C-4923-AFBB-B15D9D081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0430" y="38100"/>
            <a:ext cx="1096190" cy="558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5" name="Cap accionistas">
            <a:extLst>
              <a:ext uri="{FF2B5EF4-FFF2-40B4-BE49-F238E27FC236}">
                <a16:creationId xmlns:a16="http://schemas.microsoft.com/office/drawing/2014/main" id="{5A2D65A7-C7D4-4E59-A6A7-F4A55167705C}"/>
              </a:ext>
            </a:extLst>
          </p:cNvPr>
          <p:cNvSpPr txBox="1"/>
          <p:nvPr/>
        </p:nvSpPr>
        <p:spPr>
          <a:xfrm>
            <a:off x="6350000" y="3200400"/>
            <a:ext cx="21844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PY" sz="85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CAPITAL SOCIAL · ALIANZA DEL ACERO SA</a:t>
            </a:r>
          </a:p>
        </p:txBody>
      </p:sp>
      <p:graphicFrame>
        <p:nvGraphicFramePr>
          <p:cNvPr id="10" name="Aporte accionistas">
            <a:extLst>
              <a:ext uri="{FF2B5EF4-FFF2-40B4-BE49-F238E27FC236}">
                <a16:creationId xmlns:a16="http://schemas.microsoft.com/office/drawing/2014/main" id="{CB67A204-2F9B-439F-8186-7F8F15B346D1}"/>
              </a:ext>
            </a:extLst>
          </p:cNvPr>
          <p:cNvGraphicFramePr>
            <a:graphicFrameLocks noGrp="1"/>
          </p:cNvGraphicFramePr>
          <p:nvPr/>
        </p:nvGraphicFramePr>
        <p:xfrm>
          <a:off x="6273800" y="3403600"/>
          <a:ext cx="2336800" cy="1096264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2806747379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5448838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75405970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l"/>
                      <a:r>
                        <a:rPr lang="es-PY" sz="68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ACCIONISTA</a:t>
                      </a:r>
                    </a:p>
                  </a:txBody>
                  <a:tcPr marL="38100" marR="38100"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68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 INTEGRAR</a:t>
                      </a:r>
                    </a:p>
                  </a:txBody>
                  <a:tcPr marL="38100" marR="38100"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68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INTEGRADO</a:t>
                      </a:r>
                    </a:p>
                  </a:txBody>
                  <a:tcPr marL="38100" marR="38100"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8048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/>
                      <a:r>
                        <a:rPr lang="es-PY" sz="680" b="1">
                          <a:solidFill>
                            <a:srgbClr val="0A1628"/>
                          </a:solidFill>
                          <a:latin typeface="Calibri"/>
                          <a:ea typeface="Calibri"/>
                          <a:cs typeface="Calibri"/>
                        </a:rPr>
                        <a:t>CIE Maquiladora EAS · 49%</a:t>
                      </a:r>
                    </a:p>
                  </a:txBody>
                  <a:tcPr marL="38100" marR="38100"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7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680" b="1">
                          <a:solidFill>
                            <a:srgbClr val="0A1628"/>
                          </a:solidFill>
                          <a:latin typeface="Calibri"/>
                          <a:ea typeface="Calibri"/>
                          <a:cs typeface="Calibri"/>
                        </a:rPr>
                        <a:t>1.943.000.000</a:t>
                      </a:r>
                    </a:p>
                  </a:txBody>
                  <a:tcPr marL="38100" marR="38100"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7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680" b="1">
                          <a:solidFill>
                            <a:srgbClr val="0A1628"/>
                          </a:solidFill>
                          <a:latin typeface="Calibri"/>
                          <a:ea typeface="Calibri"/>
                          <a:cs typeface="Calibri"/>
                        </a:rPr>
                        <a:t>2.000.000</a:t>
                      </a:r>
                    </a:p>
                  </a:txBody>
                  <a:tcPr marL="38100" marR="38100"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7EF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3623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/>
                      <a:r>
                        <a:rPr lang="es-PY" sz="68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Pinheiro &amp; Bitencourt EAS · 50%</a:t>
                      </a:r>
                    </a:p>
                  </a:txBody>
                  <a:tcPr marL="38100" marR="38100"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68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1.982.000.000</a:t>
                      </a:r>
                    </a:p>
                  </a:txBody>
                  <a:tcPr marL="38100" marR="38100"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68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3.000.000</a:t>
                      </a:r>
                    </a:p>
                  </a:txBody>
                  <a:tcPr marL="38100" marR="38100"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45365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/>
                      <a:r>
                        <a:rPr lang="es-PY" sz="68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Aço Pará · 1%</a:t>
                      </a:r>
                    </a:p>
                  </a:txBody>
                  <a:tcPr marL="38100" marR="38100"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68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39.000.000</a:t>
                      </a:r>
                    </a:p>
                  </a:txBody>
                  <a:tcPr marL="38100" marR="38100"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680" b="0">
                          <a:solidFill>
                            <a:srgbClr val="37474F"/>
                          </a:solidFill>
                          <a:latin typeface="Calibri"/>
                          <a:ea typeface="Calibri"/>
                          <a:cs typeface="Calibri"/>
                        </a:rPr>
                        <a:t>1.000.000</a:t>
                      </a:r>
                    </a:p>
                  </a:txBody>
                  <a:tcPr marL="38100" marR="38100"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16416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l"/>
                      <a:r>
                        <a:rPr lang="es-PY" sz="68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SUBTOTAL</a:t>
                      </a:r>
                    </a:p>
                  </a:txBody>
                  <a:tcPr marL="38100" marR="38100"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68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3.964.000.000</a:t>
                      </a:r>
                    </a:p>
                  </a:txBody>
                  <a:tcPr marL="38100" marR="38100"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Y" sz="68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6.000.000</a:t>
                      </a:r>
                    </a:p>
                  </a:txBody>
                  <a:tcPr marL="38100" marR="38100" marT="12700" marB="127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706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0247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s-PY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27000"/>
            <a:ext cx="66548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>
              <a:buNone/>
            </a:pPr>
            <a:r>
              <a:rPr lang="es-PY" sz="2000" b="1">
                <a:solidFill>
                  <a:srgbClr val="FFFFFF"/>
                </a:solidFill>
                <a:latin typeface="Georgia"/>
              </a:rPr>
              <a:t>COMPOSICIÓN DEL CAPITAL SOCIAL</a:t>
            </a:r>
            <a:endParaRPr lang="es-PY" sz="2000" b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7" name="Subtitulo">
            <a:extLst>
              <a:ext uri="{FF2B5EF4-FFF2-40B4-BE49-F238E27FC236}">
                <a16:creationId xmlns:a16="http://schemas.microsoft.com/office/drawing/2014/main" id="{FCD3BF61-BC04-470E-9094-73D4F75E4AE9}"/>
              </a:ext>
            </a:extLst>
          </p:cNvPr>
          <p:cNvSpPr txBox="1"/>
          <p:nvPr/>
        </p:nvSpPr>
        <p:spPr>
          <a:xfrm>
            <a:off x="457200" y="711200"/>
            <a:ext cx="8229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s-ES" sz="1000" dirty="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Participación de CIE Maquiladora EAS en las tres maquilas · Capital social en guaraníes</a:t>
            </a:r>
            <a:endParaRPr lang="es-PY" sz="1000" dirty="0">
              <a:solidFill>
                <a:srgbClr val="607D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CIE pill">
            <a:extLst>
              <a:ext uri="{FF2B5EF4-FFF2-40B4-BE49-F238E27FC236}">
                <a16:creationId xmlns:a16="http://schemas.microsoft.com/office/drawing/2014/main" id="{1BEB7896-27FF-4D80-AF08-304E7B9A5B93}"/>
              </a:ext>
            </a:extLst>
          </p:cNvPr>
          <p:cNvSpPr/>
          <p:nvPr/>
        </p:nvSpPr>
        <p:spPr>
          <a:xfrm>
            <a:off x="2540000" y="939800"/>
            <a:ext cx="4064000" cy="431800"/>
          </a:xfrm>
          <a:prstGeom prst="roundRect">
            <a:avLst/>
          </a:prstGeom>
          <a:solidFill>
            <a:srgbClr val="0A16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19" name="CIE texto">
            <a:extLst>
              <a:ext uri="{FF2B5EF4-FFF2-40B4-BE49-F238E27FC236}">
                <a16:creationId xmlns:a16="http://schemas.microsoft.com/office/drawing/2014/main" id="{9EF550AE-852D-4B4F-A694-A148CAE60541}"/>
              </a:ext>
            </a:extLst>
          </p:cNvPr>
          <p:cNvSpPr txBox="1"/>
          <p:nvPr/>
        </p:nvSpPr>
        <p:spPr>
          <a:xfrm>
            <a:off x="2540000" y="1054100"/>
            <a:ext cx="406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pt-BR" sz="11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CIE MAQUILADORA EAS  ·  </a:t>
            </a:r>
            <a:r>
              <a:rPr lang="pt-BR" sz="115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Gs</a:t>
            </a:r>
            <a:r>
              <a:rPr lang="pt-BR" sz="11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4.180.000.000</a:t>
            </a:r>
            <a:endParaRPr lang="es-PY" sz="115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conn">
            <a:extLst>
              <a:ext uri="{FF2B5EF4-FFF2-40B4-BE49-F238E27FC236}">
                <a16:creationId xmlns:a16="http://schemas.microsoft.com/office/drawing/2014/main" id="{CDAD6757-7BF8-4CB7-A59B-0A1D18A84A21}"/>
              </a:ext>
            </a:extLst>
          </p:cNvPr>
          <p:cNvSpPr/>
          <p:nvPr/>
        </p:nvSpPr>
        <p:spPr>
          <a:xfrm>
            <a:off x="4559299" y="1371600"/>
            <a:ext cx="45719" cy="342900"/>
          </a:xfrm>
          <a:prstGeom prst="rect">
            <a:avLst/>
          </a:prstGeom>
          <a:solidFill>
            <a:srgbClr val="B8C6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21" name="EC lbl">
            <a:extLst>
              <a:ext uri="{FF2B5EF4-FFF2-40B4-BE49-F238E27FC236}">
                <a16:creationId xmlns:a16="http://schemas.microsoft.com/office/drawing/2014/main" id="{44259AB1-8971-4C51-B162-C7C4D7B09208}"/>
              </a:ext>
            </a:extLst>
          </p:cNvPr>
          <p:cNvSpPr txBox="1"/>
          <p:nvPr/>
        </p:nvSpPr>
        <p:spPr>
          <a:xfrm>
            <a:off x="457200" y="1574800"/>
            <a:ext cx="5689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PY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ECOSTAR SA</a:t>
            </a:r>
          </a:p>
        </p:txBody>
      </p:sp>
      <p:sp>
        <p:nvSpPr>
          <p:cNvPr id="22" name="EC tot">
            <a:extLst>
              <a:ext uri="{FF2B5EF4-FFF2-40B4-BE49-F238E27FC236}">
                <a16:creationId xmlns:a16="http://schemas.microsoft.com/office/drawing/2014/main" id="{A2C47D64-A6DD-4DBE-BD43-A19F8006F4DF}"/>
              </a:ext>
            </a:extLst>
          </p:cNvPr>
          <p:cNvSpPr txBox="1"/>
          <p:nvPr/>
        </p:nvSpPr>
        <p:spPr>
          <a:xfrm>
            <a:off x="6146800" y="1574800"/>
            <a:ext cx="254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/>
            <a:r>
              <a:rPr lang="es-PY" sz="11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Gs 1.311.000.000</a:t>
            </a:r>
          </a:p>
        </p:txBody>
      </p:sp>
      <p:sp>
        <p:nvSpPr>
          <p:cNvPr id="23" name="EC s0">
            <a:extLst>
              <a:ext uri="{FF2B5EF4-FFF2-40B4-BE49-F238E27FC236}">
                <a16:creationId xmlns:a16="http://schemas.microsoft.com/office/drawing/2014/main" id="{886AC632-BB91-4EE2-93D2-A00A45EDC00A}"/>
              </a:ext>
            </a:extLst>
          </p:cNvPr>
          <p:cNvSpPr/>
          <p:nvPr/>
        </p:nvSpPr>
        <p:spPr>
          <a:xfrm>
            <a:off x="457200" y="1790700"/>
            <a:ext cx="4036618" cy="508000"/>
          </a:xfrm>
          <a:prstGeom prst="rect">
            <a:avLst/>
          </a:prstGeom>
          <a:solidFill>
            <a:srgbClr val="0D9488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24" name="EC sn0">
            <a:extLst>
              <a:ext uri="{FF2B5EF4-FFF2-40B4-BE49-F238E27FC236}">
                <a16:creationId xmlns:a16="http://schemas.microsoft.com/office/drawing/2014/main" id="{9A3CFB2A-DAA7-49FD-B687-BA93D78BC5E0}"/>
              </a:ext>
            </a:extLst>
          </p:cNvPr>
          <p:cNvSpPr txBox="1"/>
          <p:nvPr/>
        </p:nvSpPr>
        <p:spPr>
          <a:xfrm>
            <a:off x="558800" y="1879600"/>
            <a:ext cx="3833418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PY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CIE Maquiladora EAS · 49%</a:t>
            </a:r>
          </a:p>
        </p:txBody>
      </p:sp>
      <p:sp>
        <p:nvSpPr>
          <p:cNvPr id="25" name="EC sa0">
            <a:extLst>
              <a:ext uri="{FF2B5EF4-FFF2-40B4-BE49-F238E27FC236}">
                <a16:creationId xmlns:a16="http://schemas.microsoft.com/office/drawing/2014/main" id="{8AA9C492-BFE4-4521-850F-E21BED65D960}"/>
              </a:ext>
            </a:extLst>
          </p:cNvPr>
          <p:cNvSpPr txBox="1"/>
          <p:nvPr/>
        </p:nvSpPr>
        <p:spPr>
          <a:xfrm>
            <a:off x="558800" y="2057400"/>
            <a:ext cx="3833418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PY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Gs 643.000.000</a:t>
            </a:r>
          </a:p>
        </p:txBody>
      </p:sp>
      <p:sp>
        <p:nvSpPr>
          <p:cNvPr id="26" name="EC s1">
            <a:extLst>
              <a:ext uri="{FF2B5EF4-FFF2-40B4-BE49-F238E27FC236}">
                <a16:creationId xmlns:a16="http://schemas.microsoft.com/office/drawing/2014/main" id="{0C819B09-47C2-4346-9ADF-8106F32DDA56}"/>
              </a:ext>
            </a:extLst>
          </p:cNvPr>
          <p:cNvSpPr/>
          <p:nvPr/>
        </p:nvSpPr>
        <p:spPr>
          <a:xfrm>
            <a:off x="4493818" y="1790700"/>
            <a:ext cx="4192981" cy="508000"/>
          </a:xfrm>
          <a:prstGeom prst="rect">
            <a:avLst/>
          </a:prstGeom>
          <a:solidFill>
            <a:srgbClr val="EDF1F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27" name="EC sn1">
            <a:extLst>
              <a:ext uri="{FF2B5EF4-FFF2-40B4-BE49-F238E27FC236}">
                <a16:creationId xmlns:a16="http://schemas.microsoft.com/office/drawing/2014/main" id="{B8F12ED2-0D10-4F0F-9378-919221F70759}"/>
              </a:ext>
            </a:extLst>
          </p:cNvPr>
          <p:cNvSpPr txBox="1"/>
          <p:nvPr/>
        </p:nvSpPr>
        <p:spPr>
          <a:xfrm>
            <a:off x="4595418" y="1879600"/>
            <a:ext cx="3989781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90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Energy Capital Participações Ltda · 51%</a:t>
            </a:r>
            <a:endParaRPr lang="es-PY" sz="900">
              <a:solidFill>
                <a:srgbClr val="607D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EC sa1">
            <a:extLst>
              <a:ext uri="{FF2B5EF4-FFF2-40B4-BE49-F238E27FC236}">
                <a16:creationId xmlns:a16="http://schemas.microsoft.com/office/drawing/2014/main" id="{E4CF8379-308F-4D68-8459-2E5A53C1CED5}"/>
              </a:ext>
            </a:extLst>
          </p:cNvPr>
          <p:cNvSpPr txBox="1"/>
          <p:nvPr/>
        </p:nvSpPr>
        <p:spPr>
          <a:xfrm>
            <a:off x="4595418" y="2057400"/>
            <a:ext cx="3989781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PY" sz="1200" b="1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Gs 668.000.000</a:t>
            </a:r>
          </a:p>
        </p:txBody>
      </p:sp>
      <p:sp>
        <p:nvSpPr>
          <p:cNvPr id="29" name="AA lbl">
            <a:extLst>
              <a:ext uri="{FF2B5EF4-FFF2-40B4-BE49-F238E27FC236}">
                <a16:creationId xmlns:a16="http://schemas.microsoft.com/office/drawing/2014/main" id="{B688272A-D388-4C3B-8A21-8B639348533C}"/>
              </a:ext>
            </a:extLst>
          </p:cNvPr>
          <p:cNvSpPr txBox="1"/>
          <p:nvPr/>
        </p:nvSpPr>
        <p:spPr>
          <a:xfrm>
            <a:off x="457200" y="2565400"/>
            <a:ext cx="5689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PY" sz="950" b="1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ALIANZA DEL ACERO SA</a:t>
            </a:r>
          </a:p>
        </p:txBody>
      </p:sp>
      <p:sp>
        <p:nvSpPr>
          <p:cNvPr id="30" name="AA tot">
            <a:extLst>
              <a:ext uri="{FF2B5EF4-FFF2-40B4-BE49-F238E27FC236}">
                <a16:creationId xmlns:a16="http://schemas.microsoft.com/office/drawing/2014/main" id="{E348ACE9-8EDC-4D08-85ED-9E2C194906A7}"/>
              </a:ext>
            </a:extLst>
          </p:cNvPr>
          <p:cNvSpPr txBox="1"/>
          <p:nvPr/>
        </p:nvSpPr>
        <p:spPr>
          <a:xfrm>
            <a:off x="6146800" y="2565400"/>
            <a:ext cx="254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/>
            <a:r>
              <a:rPr lang="es-PY" sz="950" b="1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Gs 3.970.000.000</a:t>
            </a:r>
          </a:p>
        </p:txBody>
      </p:sp>
      <p:sp>
        <p:nvSpPr>
          <p:cNvPr id="31" name="AA s0">
            <a:extLst>
              <a:ext uri="{FF2B5EF4-FFF2-40B4-BE49-F238E27FC236}">
                <a16:creationId xmlns:a16="http://schemas.microsoft.com/office/drawing/2014/main" id="{6BECE856-11D0-4070-83F8-EB05F824F22B}"/>
              </a:ext>
            </a:extLst>
          </p:cNvPr>
          <p:cNvSpPr/>
          <p:nvPr/>
        </p:nvSpPr>
        <p:spPr>
          <a:xfrm>
            <a:off x="457200" y="2781300"/>
            <a:ext cx="4032504" cy="406400"/>
          </a:xfrm>
          <a:prstGeom prst="rect">
            <a:avLst/>
          </a:prstGeom>
          <a:solidFill>
            <a:srgbClr val="2F7F78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32" name="AA sn0">
            <a:extLst>
              <a:ext uri="{FF2B5EF4-FFF2-40B4-BE49-F238E27FC236}">
                <a16:creationId xmlns:a16="http://schemas.microsoft.com/office/drawing/2014/main" id="{BFB02DDB-5046-491C-AFF7-EB3C09ED1E29}"/>
              </a:ext>
            </a:extLst>
          </p:cNvPr>
          <p:cNvSpPr txBox="1"/>
          <p:nvPr/>
        </p:nvSpPr>
        <p:spPr>
          <a:xfrm>
            <a:off x="558800" y="2819400"/>
            <a:ext cx="3829304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PY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CIE Maquiladora EAS · 49%</a:t>
            </a:r>
          </a:p>
        </p:txBody>
      </p:sp>
      <p:sp>
        <p:nvSpPr>
          <p:cNvPr id="33" name="AA sa0">
            <a:extLst>
              <a:ext uri="{FF2B5EF4-FFF2-40B4-BE49-F238E27FC236}">
                <a16:creationId xmlns:a16="http://schemas.microsoft.com/office/drawing/2014/main" id="{C4253656-652C-4E24-A86A-2316738FCC57}"/>
              </a:ext>
            </a:extLst>
          </p:cNvPr>
          <p:cNvSpPr txBox="1"/>
          <p:nvPr/>
        </p:nvSpPr>
        <p:spPr>
          <a:xfrm>
            <a:off x="558800" y="2959100"/>
            <a:ext cx="3829304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PY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Gs 1.945.000.000</a:t>
            </a:r>
          </a:p>
        </p:txBody>
      </p:sp>
      <p:sp>
        <p:nvSpPr>
          <p:cNvPr id="34" name="AA s1">
            <a:extLst>
              <a:ext uri="{FF2B5EF4-FFF2-40B4-BE49-F238E27FC236}">
                <a16:creationId xmlns:a16="http://schemas.microsoft.com/office/drawing/2014/main" id="{BA437BCE-D194-4AF7-AF6C-BC56020C7CAD}"/>
              </a:ext>
            </a:extLst>
          </p:cNvPr>
          <p:cNvSpPr/>
          <p:nvPr/>
        </p:nvSpPr>
        <p:spPr>
          <a:xfrm>
            <a:off x="4489704" y="2781300"/>
            <a:ext cx="4114800" cy="406400"/>
          </a:xfrm>
          <a:prstGeom prst="rect">
            <a:avLst/>
          </a:prstGeom>
          <a:solidFill>
            <a:srgbClr val="EDF1F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35" name="AA sn1">
            <a:extLst>
              <a:ext uri="{FF2B5EF4-FFF2-40B4-BE49-F238E27FC236}">
                <a16:creationId xmlns:a16="http://schemas.microsoft.com/office/drawing/2014/main" id="{6DE2C084-F380-4934-8FA6-581C4F1F9371}"/>
              </a:ext>
            </a:extLst>
          </p:cNvPr>
          <p:cNvSpPr txBox="1"/>
          <p:nvPr/>
        </p:nvSpPr>
        <p:spPr>
          <a:xfrm>
            <a:off x="4591304" y="2819400"/>
            <a:ext cx="3911600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PY" sz="80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Pinheiro &amp; Bitencourt EAS · 50%</a:t>
            </a:r>
          </a:p>
        </p:txBody>
      </p:sp>
      <p:sp>
        <p:nvSpPr>
          <p:cNvPr id="36" name="AA sa1">
            <a:extLst>
              <a:ext uri="{FF2B5EF4-FFF2-40B4-BE49-F238E27FC236}">
                <a16:creationId xmlns:a16="http://schemas.microsoft.com/office/drawing/2014/main" id="{82C78BFE-4B76-4264-A9AB-4E37E9C0AE37}"/>
              </a:ext>
            </a:extLst>
          </p:cNvPr>
          <p:cNvSpPr txBox="1"/>
          <p:nvPr/>
        </p:nvSpPr>
        <p:spPr>
          <a:xfrm>
            <a:off x="4591304" y="2959100"/>
            <a:ext cx="39116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PY" sz="1000" b="1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Gs 1.985.000.000</a:t>
            </a:r>
          </a:p>
        </p:txBody>
      </p:sp>
      <p:sp>
        <p:nvSpPr>
          <p:cNvPr id="37" name="AA s2">
            <a:extLst>
              <a:ext uri="{FF2B5EF4-FFF2-40B4-BE49-F238E27FC236}">
                <a16:creationId xmlns:a16="http://schemas.microsoft.com/office/drawing/2014/main" id="{EF51DBCB-AF25-472E-A3A1-7E700BEC5368}"/>
              </a:ext>
            </a:extLst>
          </p:cNvPr>
          <p:cNvSpPr/>
          <p:nvPr/>
        </p:nvSpPr>
        <p:spPr>
          <a:xfrm>
            <a:off x="8604504" y="2781300"/>
            <a:ext cx="82296" cy="406400"/>
          </a:xfrm>
          <a:prstGeom prst="rect">
            <a:avLst/>
          </a:prstGeom>
          <a:solidFill>
            <a:srgbClr val="E4EAF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38" name="TC lbl">
            <a:extLst>
              <a:ext uri="{FF2B5EF4-FFF2-40B4-BE49-F238E27FC236}">
                <a16:creationId xmlns:a16="http://schemas.microsoft.com/office/drawing/2014/main" id="{E90A6377-C285-4E1A-81E4-F164BD5292CC}"/>
              </a:ext>
            </a:extLst>
          </p:cNvPr>
          <p:cNvSpPr txBox="1"/>
          <p:nvPr/>
        </p:nvSpPr>
        <p:spPr>
          <a:xfrm>
            <a:off x="457200" y="3454400"/>
            <a:ext cx="56896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PY" sz="950" b="1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TCM ELECTRONICA SA</a:t>
            </a:r>
          </a:p>
        </p:txBody>
      </p:sp>
      <p:sp>
        <p:nvSpPr>
          <p:cNvPr id="39" name="TC tot">
            <a:extLst>
              <a:ext uri="{FF2B5EF4-FFF2-40B4-BE49-F238E27FC236}">
                <a16:creationId xmlns:a16="http://schemas.microsoft.com/office/drawing/2014/main" id="{D09061E6-A7E7-4D2D-94F5-196F79FBA626}"/>
              </a:ext>
            </a:extLst>
          </p:cNvPr>
          <p:cNvSpPr txBox="1"/>
          <p:nvPr/>
        </p:nvSpPr>
        <p:spPr>
          <a:xfrm>
            <a:off x="6146800" y="3454400"/>
            <a:ext cx="254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/>
            <a:r>
              <a:rPr lang="es-PY" sz="950" b="1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Gs 1.770.000.000</a:t>
            </a:r>
          </a:p>
        </p:txBody>
      </p:sp>
      <p:sp>
        <p:nvSpPr>
          <p:cNvPr id="40" name="TC s0">
            <a:extLst>
              <a:ext uri="{FF2B5EF4-FFF2-40B4-BE49-F238E27FC236}">
                <a16:creationId xmlns:a16="http://schemas.microsoft.com/office/drawing/2014/main" id="{C04B345D-21AF-494E-A4F7-4510348D98D9}"/>
              </a:ext>
            </a:extLst>
          </p:cNvPr>
          <p:cNvSpPr/>
          <p:nvPr/>
        </p:nvSpPr>
        <p:spPr>
          <a:xfrm>
            <a:off x="457200" y="3670300"/>
            <a:ext cx="2742925" cy="406400"/>
          </a:xfrm>
          <a:prstGeom prst="rect">
            <a:avLst/>
          </a:prstGeom>
          <a:solidFill>
            <a:srgbClr val="2F7F78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41" name="TC sn0">
            <a:extLst>
              <a:ext uri="{FF2B5EF4-FFF2-40B4-BE49-F238E27FC236}">
                <a16:creationId xmlns:a16="http://schemas.microsoft.com/office/drawing/2014/main" id="{3057D855-E3D1-4F98-8AF7-708E75F3C7F3}"/>
              </a:ext>
            </a:extLst>
          </p:cNvPr>
          <p:cNvSpPr txBox="1"/>
          <p:nvPr/>
        </p:nvSpPr>
        <p:spPr>
          <a:xfrm>
            <a:off x="558800" y="3708400"/>
            <a:ext cx="2539725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PY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CIE Maquiladora EAS · 33,3%</a:t>
            </a:r>
          </a:p>
        </p:txBody>
      </p:sp>
      <p:sp>
        <p:nvSpPr>
          <p:cNvPr id="42" name="TC sa0">
            <a:extLst>
              <a:ext uri="{FF2B5EF4-FFF2-40B4-BE49-F238E27FC236}">
                <a16:creationId xmlns:a16="http://schemas.microsoft.com/office/drawing/2014/main" id="{7F4F188F-C76F-4C1D-893E-CC28A42BBC1E}"/>
              </a:ext>
            </a:extLst>
          </p:cNvPr>
          <p:cNvSpPr txBox="1"/>
          <p:nvPr/>
        </p:nvSpPr>
        <p:spPr>
          <a:xfrm>
            <a:off x="558800" y="3848100"/>
            <a:ext cx="2539725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PY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Gs 590.000.000</a:t>
            </a:r>
          </a:p>
        </p:txBody>
      </p:sp>
      <p:sp>
        <p:nvSpPr>
          <p:cNvPr id="43" name="TC s1">
            <a:extLst>
              <a:ext uri="{FF2B5EF4-FFF2-40B4-BE49-F238E27FC236}">
                <a16:creationId xmlns:a16="http://schemas.microsoft.com/office/drawing/2014/main" id="{938D646A-D9DC-4469-9135-4DDA69EBA6FC}"/>
              </a:ext>
            </a:extLst>
          </p:cNvPr>
          <p:cNvSpPr/>
          <p:nvPr/>
        </p:nvSpPr>
        <p:spPr>
          <a:xfrm>
            <a:off x="3200125" y="3670300"/>
            <a:ext cx="2742925" cy="406400"/>
          </a:xfrm>
          <a:prstGeom prst="rect">
            <a:avLst/>
          </a:prstGeom>
          <a:solidFill>
            <a:srgbClr val="EDF1F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44" name="TC sn1">
            <a:extLst>
              <a:ext uri="{FF2B5EF4-FFF2-40B4-BE49-F238E27FC236}">
                <a16:creationId xmlns:a16="http://schemas.microsoft.com/office/drawing/2014/main" id="{62E50F08-FC06-482E-BCE9-8BF0B8CD33FB}"/>
              </a:ext>
            </a:extLst>
          </p:cNvPr>
          <p:cNvSpPr txBox="1"/>
          <p:nvPr/>
        </p:nvSpPr>
        <p:spPr>
          <a:xfrm>
            <a:off x="3301725" y="3708400"/>
            <a:ext cx="2539725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PY" sz="80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Yefinczuk Inversiones EAS · 33,3%</a:t>
            </a:r>
          </a:p>
        </p:txBody>
      </p:sp>
      <p:sp>
        <p:nvSpPr>
          <p:cNvPr id="45" name="TC sa1">
            <a:extLst>
              <a:ext uri="{FF2B5EF4-FFF2-40B4-BE49-F238E27FC236}">
                <a16:creationId xmlns:a16="http://schemas.microsoft.com/office/drawing/2014/main" id="{0A4BB889-09F4-4A43-8F8D-909F3771A8AB}"/>
              </a:ext>
            </a:extLst>
          </p:cNvPr>
          <p:cNvSpPr txBox="1"/>
          <p:nvPr/>
        </p:nvSpPr>
        <p:spPr>
          <a:xfrm>
            <a:off x="3301725" y="3848100"/>
            <a:ext cx="2539725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PY" sz="1000" b="1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Gs 590.000.000</a:t>
            </a:r>
          </a:p>
        </p:txBody>
      </p:sp>
      <p:sp>
        <p:nvSpPr>
          <p:cNvPr id="46" name="TC s2">
            <a:extLst>
              <a:ext uri="{FF2B5EF4-FFF2-40B4-BE49-F238E27FC236}">
                <a16:creationId xmlns:a16="http://schemas.microsoft.com/office/drawing/2014/main" id="{B326A65F-E201-401F-8299-E6831292DD21}"/>
              </a:ext>
            </a:extLst>
          </p:cNvPr>
          <p:cNvSpPr/>
          <p:nvPr/>
        </p:nvSpPr>
        <p:spPr>
          <a:xfrm>
            <a:off x="5943051" y="3670300"/>
            <a:ext cx="2743748" cy="406400"/>
          </a:xfrm>
          <a:prstGeom prst="rect">
            <a:avLst/>
          </a:prstGeom>
          <a:solidFill>
            <a:srgbClr val="E4EAF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47" name="TC sn2">
            <a:extLst>
              <a:ext uri="{FF2B5EF4-FFF2-40B4-BE49-F238E27FC236}">
                <a16:creationId xmlns:a16="http://schemas.microsoft.com/office/drawing/2014/main" id="{59A21B4A-06B8-494E-9E0F-87D09D85155D}"/>
              </a:ext>
            </a:extLst>
          </p:cNvPr>
          <p:cNvSpPr txBox="1"/>
          <p:nvPr/>
        </p:nvSpPr>
        <p:spPr>
          <a:xfrm>
            <a:off x="6044651" y="3708400"/>
            <a:ext cx="2540548" cy="165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80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Raúl Santos de Freitas · 33,3%</a:t>
            </a:r>
            <a:endParaRPr lang="es-PY" sz="800">
              <a:solidFill>
                <a:srgbClr val="607D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TC sa2">
            <a:extLst>
              <a:ext uri="{FF2B5EF4-FFF2-40B4-BE49-F238E27FC236}">
                <a16:creationId xmlns:a16="http://schemas.microsoft.com/office/drawing/2014/main" id="{5D7BC619-FDB9-487F-80EC-727458E7834A}"/>
              </a:ext>
            </a:extLst>
          </p:cNvPr>
          <p:cNvSpPr txBox="1"/>
          <p:nvPr/>
        </p:nvSpPr>
        <p:spPr>
          <a:xfrm>
            <a:off x="6044651" y="3848100"/>
            <a:ext cx="2540548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PY" sz="1000" b="1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Gs 590.000.000</a:t>
            </a:r>
          </a:p>
        </p:txBody>
      </p:sp>
      <p:sp>
        <p:nvSpPr>
          <p:cNvPr id="49" name="AA aco">
            <a:extLst>
              <a:ext uri="{FF2B5EF4-FFF2-40B4-BE49-F238E27FC236}">
                <a16:creationId xmlns:a16="http://schemas.microsoft.com/office/drawing/2014/main" id="{BF77D584-DBC2-4A8D-AC8C-16CE1FA7B01B}"/>
              </a:ext>
            </a:extLst>
          </p:cNvPr>
          <p:cNvSpPr txBox="1"/>
          <p:nvPr/>
        </p:nvSpPr>
        <p:spPr>
          <a:xfrm>
            <a:off x="6527800" y="3225800"/>
            <a:ext cx="2159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/>
            <a:r>
              <a:rPr lang="pt-BR" sz="75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Aço Pará · 1% · Gs 40.000.000</a:t>
            </a:r>
            <a:endParaRPr lang="es-PY" sz="750">
              <a:solidFill>
                <a:srgbClr val="607D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Res1">
            <a:extLst>
              <a:ext uri="{FF2B5EF4-FFF2-40B4-BE49-F238E27FC236}">
                <a16:creationId xmlns:a16="http://schemas.microsoft.com/office/drawing/2014/main" id="{AE0B3173-8BC8-40D0-931A-C0E8C9CCEA5C}"/>
              </a:ext>
            </a:extLst>
          </p:cNvPr>
          <p:cNvSpPr/>
          <p:nvPr/>
        </p:nvSpPr>
        <p:spPr>
          <a:xfrm>
            <a:off x="2540000" y="4368800"/>
            <a:ext cx="4038600" cy="558800"/>
          </a:xfrm>
          <a:prstGeom prst="roundRect">
            <a:avLst/>
          </a:prstGeom>
          <a:solidFill>
            <a:srgbClr val="E3F2F1"/>
          </a:solidFill>
          <a:ln w="15875" cap="flat" cmpd="sng" algn="ctr">
            <a:solidFill>
              <a:srgbClr val="0D948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PY"/>
          </a:p>
        </p:txBody>
      </p:sp>
      <p:sp>
        <p:nvSpPr>
          <p:cNvPr id="6" name="Res1 lbl">
            <a:extLst>
              <a:ext uri="{FF2B5EF4-FFF2-40B4-BE49-F238E27FC236}">
                <a16:creationId xmlns:a16="http://schemas.microsoft.com/office/drawing/2014/main" id="{3316DEB4-C6DA-4235-AC85-C3AEE79567B0}"/>
              </a:ext>
            </a:extLst>
          </p:cNvPr>
          <p:cNvSpPr txBox="1"/>
          <p:nvPr/>
        </p:nvSpPr>
        <p:spPr>
          <a:xfrm>
            <a:off x="2540000" y="4457700"/>
            <a:ext cx="40386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" sz="85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CAPITAL SUSCRITO EN LAS TRES MAQUILAS</a:t>
            </a:r>
            <a:endParaRPr lang="es-PY" sz="850" b="1">
              <a:solidFill>
                <a:srgbClr val="0D94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es1 val">
            <a:extLst>
              <a:ext uri="{FF2B5EF4-FFF2-40B4-BE49-F238E27FC236}">
                <a16:creationId xmlns:a16="http://schemas.microsoft.com/office/drawing/2014/main" id="{E7E1EADE-1308-4C2B-9F84-940BEC33EDF6}"/>
              </a:ext>
            </a:extLst>
          </p:cNvPr>
          <p:cNvSpPr txBox="1"/>
          <p:nvPr/>
        </p:nvSpPr>
        <p:spPr>
          <a:xfrm>
            <a:off x="2540000" y="4622800"/>
            <a:ext cx="4038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PY" sz="130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Gs 3.178.000.000</a:t>
            </a:r>
          </a:p>
        </p:txBody>
      </p:sp>
      <p:pic>
        <p:nvPicPr>
          <p:cNvPr id="9" name="Copied Picture 103" descr="Alianza del Acero.&#10;&#10;El contenido generado por IA puede ser incorrecto.">
            <a:extLst>
              <a:ext uri="{FF2B5EF4-FFF2-40B4-BE49-F238E27FC236}">
                <a16:creationId xmlns:a16="http://schemas.microsoft.com/office/drawing/2014/main" id="{E2E80B03-F9CA-D391-337A-C15B6B647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0430" y="38100"/>
            <a:ext cx="1096190" cy="558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098083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C06102C-83DA-4443-88C6-530D72163725}">
  <we:reference id="WA200010215" version="2.0.0.1" store="Omex" storeType="OMEX"/>
  <we:alternateReferences>
    <we:reference id="WA200010215" version="2.0.0.1" store="WA200010215" storeType="OMEX"/>
  </we:alternateReferences>
  <we:properties>
    <we:property name="bps.codex_control.document_id" value="&quot;9ea238e6-852a-4715-84b4-53cc5b0d1a8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3663F48C-C0B0-436A-9EEF-3667CED6FF2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4e453a2-2470-4f85-aad8-7d7b96694be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3337</TotalTime>
  <Words>1234</Words>
  <Application>Microsoft Office PowerPoint</Application>
  <PresentationFormat>Presentación en pantalla (16:9)</PresentationFormat>
  <Paragraphs>391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Alianza del Acero - Análisis de Inversiones</dc:title>
  <dc:subject>PptxGenJS Presentation</dc:subject>
  <dc:creator>Análisis Financiero</dc:creator>
  <cp:lastModifiedBy>Derlis Morinigo</cp:lastModifiedBy>
  <cp:revision>95</cp:revision>
  <dcterms:created xsi:type="dcterms:W3CDTF">2026-05-05T18:09:05Z</dcterms:created>
  <dcterms:modified xsi:type="dcterms:W3CDTF">2026-10-09T18:16:51Z</dcterms:modified>
</cp:coreProperties>
</file>